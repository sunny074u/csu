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91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916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Cormen, T. H., Leiserson, C. E., Rivest, R. L., &amp; Stein, C. (2022). Introduction to Algorithms (4th ed.). MIT Press.
- Goodrich, M. T., Tamassia, R., &amp; Goldwasser, M. H. (2015). Data Structures and Algorithms in Python. Wiley.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Goodrich, M. T., Tamassia, R., &amp; Goldwasser, M. H. (2015). Data Structures and Algorithms in Python. Wiley.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Goodrich, M. T., Tamassia, R., &amp; Goldwasser, M. H. (2015). Data Structures and Algorithms in Python. Wiley.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Cormen, T. H., Leiserson, C. E., Rivest, R. L., &amp; Stein, C. (2022). Introduction to Algorithms (4th ed.). MIT Press.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Cormen, T. H., Leiserson, C. E., Rivest, R. L., &amp; Stein, C. (2022). Introduction to Algorithms (4th ed.). MIT Press.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Goodrich, M. T., Tamassia, R., &amp; Goldwasser, M. H. (2015). Data Structures and Algorithms in Python. Wiley.
- Sedgewick, R., &amp; Wayne, K. (2011). Algorithms (4th ed.). Addison-Wesley.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Goodrich, M. T., Tamassia, R., &amp; Goldwasser, M. H. (2015). Data Structures and Algorithms in Python. Wiley.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Cormen, T. H., Leiserson, C. E., Rivest, R. L., &amp; Stein, C. (2022). Introduction to Algorithms (4th ed.). MIT Press.
- Goodrich, M. T., Tamassia, R., &amp; Goldwasser, M. H. (2015). Data Structures and Algorithms in Python. Wiley.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Goodrich, M. T., Tamassia, R., &amp; Goldwasser, M. H. (2015). Data Structures and Algorithms in Python. Wiley.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Cormen, T. H., Leiserson, C. E., Rivest, R. L., &amp; Stein, C. (2022). Introduction to Algorithms (4th ed.). MIT Press.
- Goodrich, M. T., Tamassia, R., &amp; Goldwasser, M. H. (2015). Data Structures and Algorithms in Python. Wiley.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621792" y="1298448"/>
            <a:ext cx="7132320" cy="960120"/>
          </a:xfrm>
          <a:prstGeom prst="rect">
            <a:avLst/>
          </a:prstGeom>
          <a:noFill/>
          <a:ln/>
        </p:spPr>
        <p:txBody>
          <a:bodyPr wrap="square" rtlCol="0" anchor="ctr"/>
          <a:lstStyle/>
          <a:p>
            <a:pPr marL="0" indent="0">
              <a:buNone/>
            </a:pPr>
            <a:r>
              <a:rPr lang="en-US" sz="2500" b="1" dirty="0">
                <a:solidFill>
                  <a:srgbClr val="173F5F"/>
                </a:solidFill>
                <a:latin typeface="Aptos Display" pitchFamily="34" charset="0"/>
                <a:ea typeface="Aptos Display" pitchFamily="34" charset="-122"/>
                <a:cs typeface="Aptos Display" pitchFamily="34" charset="-120"/>
              </a:rPr>
              <a:t>Portfolio System for Sets, Sorting Algorithms,</a:t>
            </a:r>
            <a:endParaRPr lang="en-US" sz="2500" dirty="0"/>
          </a:p>
          <a:p>
            <a:pPr marL="0" indent="0">
              <a:buNone/>
            </a:pPr>
            <a:r>
              <a:rPr lang="en-US" sz="2500" b="1" dirty="0">
                <a:solidFill>
                  <a:srgbClr val="173F5F"/>
                </a:solidFill>
                <a:latin typeface="Aptos Display" pitchFamily="34" charset="0"/>
                <a:ea typeface="Aptos Display" pitchFamily="34" charset="-122"/>
                <a:cs typeface="Aptos Display" pitchFamily="34" charset="-120"/>
              </a:rPr>
              <a:t>and Core Data Structures</a:t>
            </a:r>
            <a:endParaRPr lang="en-US" sz="2500" dirty="0"/>
          </a:p>
        </p:txBody>
      </p:sp>
      <p:sp>
        <p:nvSpPr>
          <p:cNvPr id="4" name="Text 2"/>
          <p:cNvSpPr/>
          <p:nvPr/>
        </p:nvSpPr>
        <p:spPr>
          <a:xfrm>
            <a:off x="640080" y="2468880"/>
            <a:ext cx="2926080" cy="201168"/>
          </a:xfrm>
          <a:prstGeom prst="rect">
            <a:avLst/>
          </a:prstGeom>
          <a:noFill/>
          <a:ln/>
        </p:spPr>
        <p:txBody>
          <a:bodyPr wrap="square" rtlCol="0" anchor="ctr"/>
          <a:lstStyle/>
          <a:p>
            <a:pPr marL="0" indent="0">
              <a:buNone/>
            </a:pPr>
            <a:r>
              <a:rPr lang="en-US" sz="1400" i="1" dirty="0">
                <a:solidFill>
                  <a:srgbClr val="20639B"/>
                </a:solidFill>
              </a:rPr>
              <a:t>Final portfolio presentation</a:t>
            </a:r>
            <a:endParaRPr lang="en-US" sz="1400" dirty="0"/>
          </a:p>
        </p:txBody>
      </p:sp>
      <p:sp>
        <p:nvSpPr>
          <p:cNvPr id="5" name="Shape 3"/>
          <p:cNvSpPr/>
          <p:nvPr/>
        </p:nvSpPr>
        <p:spPr>
          <a:xfrm>
            <a:off x="621792" y="3054096"/>
            <a:ext cx="4663440" cy="1371600"/>
          </a:xfrm>
          <a:prstGeom prst="roundRect">
            <a:avLst>
              <a:gd name="adj" fmla="val 3333"/>
            </a:avLst>
          </a:prstGeom>
          <a:solidFill>
            <a:srgbClr val="FFFFFF"/>
          </a:solidFill>
          <a:ln w="12700">
            <a:solidFill>
              <a:srgbClr val="DCEAF7"/>
            </a:solidFill>
            <a:prstDash val="solid"/>
          </a:ln>
          <a:effectLst>
            <a:outerShdw blurRad="12700" dist="12700" dir="2700000" algn="bl" rotWithShape="0">
              <a:srgbClr val="000000">
                <a:alpha val="12000"/>
              </a:srgbClr>
            </a:outerShdw>
          </a:effectLst>
        </p:spPr>
        <p:txBody>
          <a:bodyPr/>
          <a:lstStyle/>
          <a:p>
            <a:endParaRPr lang="en-US"/>
          </a:p>
        </p:txBody>
      </p:sp>
      <p:sp>
        <p:nvSpPr>
          <p:cNvPr id="6" name="Text 4"/>
          <p:cNvSpPr/>
          <p:nvPr/>
        </p:nvSpPr>
        <p:spPr>
          <a:xfrm>
            <a:off x="932688" y="3401568"/>
            <a:ext cx="4114800" cy="822960"/>
          </a:xfrm>
          <a:prstGeom prst="rect">
            <a:avLst/>
          </a:prstGeom>
          <a:noFill/>
          <a:ln/>
        </p:spPr>
        <p:txBody>
          <a:bodyPr wrap="square" rtlCol="0" anchor="ctr"/>
          <a:lstStyle/>
          <a:p>
            <a:pPr marL="0" indent="0">
              <a:buNone/>
            </a:pPr>
            <a:r>
              <a:rPr lang="en-US" sz="1500" dirty="0">
                <a:solidFill>
                  <a:srgbClr val="1F2933"/>
                </a:solidFill>
              </a:rPr>
              <a:t>Prepared by: Sunday Edisi</a:t>
            </a:r>
            <a:endParaRPr lang="en-US" sz="1500" dirty="0"/>
          </a:p>
          <a:p>
            <a:pPr marL="0" indent="0">
              <a:buNone/>
            </a:pPr>
            <a:r>
              <a:rPr lang="en-US" sz="1500" dirty="0">
                <a:solidFill>
                  <a:srgbClr val="1F2933"/>
                </a:solidFill>
              </a:rPr>
              <a:t>Course: CSC506</a:t>
            </a:r>
            <a:endParaRPr lang="en-US" sz="1500" dirty="0"/>
          </a:p>
          <a:p>
            <a:pPr marL="0" indent="0">
              <a:buNone/>
            </a:pPr>
            <a:r>
              <a:rPr lang="en-US" sz="1500" dirty="0">
                <a:solidFill>
                  <a:srgbClr val="1F2933"/>
                </a:solidFill>
              </a:rPr>
              <a:t>Date: 2026-04-04</a:t>
            </a:r>
            <a:endParaRPr lang="en-US" sz="1500" dirty="0"/>
          </a:p>
        </p:txBody>
      </p:sp>
      <p:sp>
        <p:nvSpPr>
          <p:cNvPr id="7" name="Shape 5"/>
          <p:cNvSpPr/>
          <p:nvPr/>
        </p:nvSpPr>
        <p:spPr>
          <a:xfrm>
            <a:off x="8183880" y="1426464"/>
            <a:ext cx="3291840" cy="3977640"/>
          </a:xfrm>
          <a:prstGeom prst="roundRect">
            <a:avLst>
              <a:gd name="adj" fmla="val 1944"/>
            </a:avLst>
          </a:prstGeom>
          <a:solidFill>
            <a:srgbClr val="DCEAF7"/>
          </a:solidFill>
          <a:ln w="13970">
            <a:solidFill>
              <a:srgbClr val="20639B"/>
            </a:solidFill>
            <a:prstDash val="solid"/>
          </a:ln>
        </p:spPr>
        <p:txBody>
          <a:bodyPr/>
          <a:lstStyle/>
          <a:p>
            <a:endParaRPr lang="en-US"/>
          </a:p>
        </p:txBody>
      </p:sp>
      <p:sp>
        <p:nvSpPr>
          <p:cNvPr id="8" name="Text 6"/>
          <p:cNvSpPr/>
          <p:nvPr/>
        </p:nvSpPr>
        <p:spPr>
          <a:xfrm>
            <a:off x="8412480" y="1783080"/>
            <a:ext cx="2743200" cy="228600"/>
          </a:xfrm>
          <a:prstGeom prst="rect">
            <a:avLst/>
          </a:prstGeom>
          <a:noFill/>
          <a:ln/>
        </p:spPr>
        <p:txBody>
          <a:bodyPr wrap="square" rtlCol="0" anchor="ctr"/>
          <a:lstStyle/>
          <a:p>
            <a:pPr marL="0" indent="0" algn="ctr">
              <a:buNone/>
            </a:pPr>
            <a:r>
              <a:rPr lang="en-US" sz="1800" b="1" dirty="0">
                <a:solidFill>
                  <a:srgbClr val="173F5F"/>
                </a:solidFill>
              </a:rPr>
              <a:t>What this project includes</a:t>
            </a:r>
            <a:endParaRPr lang="en-US" sz="1800" dirty="0"/>
          </a:p>
        </p:txBody>
      </p:sp>
      <p:sp>
        <p:nvSpPr>
          <p:cNvPr id="9" name="Text 7"/>
          <p:cNvSpPr/>
          <p:nvPr/>
        </p:nvSpPr>
        <p:spPr>
          <a:xfrm>
            <a:off x="8394192" y="2212848"/>
            <a:ext cx="2606040" cy="2743200"/>
          </a:xfrm>
          <a:prstGeom prst="rect">
            <a:avLst/>
          </a:prstGeom>
          <a:noFill/>
          <a:ln/>
        </p:spPr>
        <p:txBody>
          <a:bodyPr wrap="square" rtlCol="0" anchor="ctr"/>
          <a:lstStyle/>
          <a:p>
            <a:pPr marL="177800" indent="-177800">
              <a:buSzPct val="100000"/>
              <a:buChar char="•"/>
            </a:pPr>
            <a:r>
              <a:rPr lang="en-US" sz="1300" dirty="0">
                <a:solidFill>
                  <a:srgbClr val="1F2933"/>
                </a:solidFill>
              </a:rPr>
              <a:t>Bubble sort visualization</a:t>
            </a:r>
            <a:endParaRPr lang="en-US" sz="1300" dirty="0"/>
          </a:p>
          <a:p>
            <a:pPr marL="177800" indent="-177800">
              <a:buSzPct val="100000"/>
              <a:buChar char="•"/>
            </a:pPr>
            <a:r>
              <a:rPr lang="en-US" sz="1300" dirty="0">
                <a:solidFill>
                  <a:srgbClr val="1F2933"/>
                </a:solidFill>
              </a:rPr>
              <a:t>Quickselect for kth smallest element</a:t>
            </a:r>
            <a:endParaRPr lang="en-US" sz="1300" dirty="0"/>
          </a:p>
          <a:p>
            <a:pPr marL="177800" indent="-177800">
              <a:buSzPct val="100000"/>
              <a:buChar char="•"/>
            </a:pPr>
            <a:r>
              <a:rPr lang="en-US" sz="1300" dirty="0">
                <a:solidFill>
                  <a:srgbClr val="1F2933"/>
                </a:solidFill>
              </a:rPr>
              <a:t>Custom Set class and set operations</a:t>
            </a:r>
            <a:endParaRPr lang="en-US" sz="1300" dirty="0"/>
          </a:p>
          <a:p>
            <a:pPr marL="177800" indent="-177800">
              <a:buSzPct val="100000"/>
              <a:buChar char="•"/>
            </a:pPr>
            <a:r>
              <a:rPr lang="en-US" sz="1300" dirty="0">
                <a:solidFill>
                  <a:srgbClr val="1F2933"/>
                </a:solidFill>
              </a:rPr>
              <a:t>Integrated stack, queue, tree, graph, and hash table</a:t>
            </a:r>
            <a:endParaRPr lang="en-US" sz="1300" dirty="0"/>
          </a:p>
          <a:p>
            <a:pPr marL="177800" indent="-177800">
              <a:buSzPct val="100000"/>
              <a:buChar char="•"/>
            </a:pPr>
            <a:r>
              <a:rPr lang="en-US" sz="1300" dirty="0">
                <a:solidFill>
                  <a:srgbClr val="1F2933"/>
                </a:solidFill>
              </a:rPr>
              <a:t>Performance analysis and project reflection</a:t>
            </a:r>
            <a:endParaRPr lang="en-US" sz="1300" dirty="0"/>
          </a:p>
        </p:txBody>
      </p:sp>
      <p:sp>
        <p:nvSpPr>
          <p:cNvPr id="10" name="Text 8"/>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411480" y="128016"/>
            <a:ext cx="10241280" cy="274320"/>
          </a:xfrm>
          <a:prstGeom prst="rect">
            <a:avLst/>
          </a:prstGeom>
          <a:noFill/>
          <a:ln/>
        </p:spPr>
        <p:txBody>
          <a:bodyPr wrap="square"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Project Goals and System Scope</a:t>
            </a:r>
            <a:endParaRPr lang="en-US" sz="2400" dirty="0"/>
          </a:p>
        </p:txBody>
      </p:sp>
      <p:sp>
        <p:nvSpPr>
          <p:cNvPr id="4" name="Shape 2"/>
          <p:cNvSpPr/>
          <p:nvPr/>
        </p:nvSpPr>
        <p:spPr>
          <a:xfrm>
            <a:off x="365760" y="704088"/>
            <a:ext cx="11430000" cy="0"/>
          </a:xfrm>
          <a:prstGeom prst="line">
            <a:avLst/>
          </a:prstGeom>
          <a:noFill/>
          <a:ln w="15240">
            <a:solidFill>
              <a:srgbClr val="DCEAF7"/>
            </a:solidFill>
            <a:prstDash val="solid"/>
          </a:ln>
        </p:spPr>
        <p:txBody>
          <a:bodyPr/>
          <a:lstStyle/>
          <a:p>
            <a:endParaRPr lang="en-US"/>
          </a:p>
        </p:txBody>
      </p:sp>
      <p:sp>
        <p:nvSpPr>
          <p:cNvPr id="5" name="Text 3"/>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
        <p:nvSpPr>
          <p:cNvPr id="6" name="Shape 4"/>
          <p:cNvSpPr/>
          <p:nvPr/>
        </p:nvSpPr>
        <p:spPr>
          <a:xfrm>
            <a:off x="594360" y="987552"/>
            <a:ext cx="10972800" cy="4663440"/>
          </a:xfrm>
          <a:prstGeom prst="roundRect">
            <a:avLst>
              <a:gd name="adj" fmla="val 784"/>
            </a:avLst>
          </a:prstGeom>
          <a:solidFill>
            <a:srgbClr val="FFFFFF"/>
          </a:solidFill>
          <a:ln w="12700">
            <a:solidFill>
              <a:srgbClr val="DCEAF7"/>
            </a:solidFill>
            <a:prstDash val="solid"/>
          </a:ln>
        </p:spPr>
        <p:txBody>
          <a:bodyPr/>
          <a:lstStyle/>
          <a:p>
            <a:endParaRPr lang="en-US"/>
          </a:p>
        </p:txBody>
      </p:sp>
      <p:sp>
        <p:nvSpPr>
          <p:cNvPr id="7" name="Text 5"/>
          <p:cNvSpPr/>
          <p:nvPr/>
        </p:nvSpPr>
        <p:spPr>
          <a:xfrm>
            <a:off x="786384" y="1188720"/>
            <a:ext cx="10424160" cy="365760"/>
          </a:xfrm>
          <a:prstGeom prst="rect">
            <a:avLst/>
          </a:prstGeom>
          <a:noFill/>
          <a:ln/>
        </p:spPr>
        <p:txBody>
          <a:bodyPr wrap="square" rtlCol="0" anchor="ctr"/>
          <a:lstStyle/>
          <a:p>
            <a:pPr marL="0" indent="0">
              <a:buNone/>
            </a:pPr>
            <a:r>
              <a:rPr lang="en-US" sz="1700" dirty="0">
                <a:solidFill>
                  <a:srgbClr val="1F2933"/>
                </a:solidFill>
              </a:rPr>
              <a:t>The project was built as one integrated application so that each concept could be demonstrated, compared, and explained inside the same system.</a:t>
            </a:r>
            <a:endParaRPr lang="en-US" sz="1700" dirty="0"/>
          </a:p>
        </p:txBody>
      </p:sp>
      <p:sp>
        <p:nvSpPr>
          <p:cNvPr id="8" name="Shape 6"/>
          <p:cNvSpPr/>
          <p:nvPr/>
        </p:nvSpPr>
        <p:spPr>
          <a:xfrm>
            <a:off x="786384" y="1783080"/>
            <a:ext cx="10469880" cy="685800"/>
          </a:xfrm>
          <a:prstGeom prst="rect">
            <a:avLst/>
          </a:prstGeom>
          <a:solidFill>
            <a:srgbClr val="F7FBFE"/>
          </a:solidFill>
          <a:ln w="8890">
            <a:solidFill>
              <a:srgbClr val="DCEAF7"/>
            </a:solidFill>
            <a:prstDash val="solid"/>
          </a:ln>
        </p:spPr>
        <p:txBody>
          <a:bodyPr/>
          <a:lstStyle/>
          <a:p>
            <a:endParaRPr lang="en-US"/>
          </a:p>
        </p:txBody>
      </p:sp>
      <p:sp>
        <p:nvSpPr>
          <p:cNvPr id="9" name="Text 7"/>
          <p:cNvSpPr/>
          <p:nvPr/>
        </p:nvSpPr>
        <p:spPr>
          <a:xfrm>
            <a:off x="932688" y="1938528"/>
            <a:ext cx="1078992" cy="201168"/>
          </a:xfrm>
          <a:prstGeom prst="rect">
            <a:avLst/>
          </a:prstGeom>
          <a:noFill/>
          <a:ln/>
        </p:spPr>
        <p:txBody>
          <a:bodyPr wrap="square" rtlCol="0" anchor="ctr"/>
          <a:lstStyle/>
          <a:p>
            <a:pPr marL="0" indent="0">
              <a:buNone/>
            </a:pPr>
            <a:r>
              <a:rPr lang="en-US" sz="1300" b="1" dirty="0">
                <a:solidFill>
                  <a:srgbClr val="173F5F"/>
                </a:solidFill>
              </a:rPr>
              <a:t>Sorting</a:t>
            </a:r>
            <a:endParaRPr lang="en-US" sz="1300" dirty="0"/>
          </a:p>
        </p:txBody>
      </p:sp>
      <p:sp>
        <p:nvSpPr>
          <p:cNvPr id="10" name="Text 8"/>
          <p:cNvSpPr/>
          <p:nvPr/>
        </p:nvSpPr>
        <p:spPr>
          <a:xfrm>
            <a:off x="2057400" y="1901952"/>
            <a:ext cx="3474720" cy="310896"/>
          </a:xfrm>
          <a:prstGeom prst="rect">
            <a:avLst/>
          </a:prstGeom>
          <a:noFill/>
          <a:ln/>
        </p:spPr>
        <p:txBody>
          <a:bodyPr wrap="square" rtlCol="0" anchor="ctr"/>
          <a:lstStyle/>
          <a:p>
            <a:pPr marL="0" indent="0">
              <a:buNone/>
            </a:pPr>
            <a:r>
              <a:rPr lang="en-US" sz="1250" dirty="0">
                <a:solidFill>
                  <a:srgbClr val="1F2933"/>
                </a:solidFill>
              </a:rPr>
              <a:t>Bubble sort with step-by-step output</a:t>
            </a:r>
            <a:endParaRPr lang="en-US" sz="1250" dirty="0"/>
          </a:p>
        </p:txBody>
      </p:sp>
      <p:sp>
        <p:nvSpPr>
          <p:cNvPr id="11" name="Text 9"/>
          <p:cNvSpPr/>
          <p:nvPr/>
        </p:nvSpPr>
        <p:spPr>
          <a:xfrm>
            <a:off x="5623560" y="1901952"/>
            <a:ext cx="5166360" cy="310896"/>
          </a:xfrm>
          <a:prstGeom prst="rect">
            <a:avLst/>
          </a:prstGeom>
          <a:noFill/>
          <a:ln/>
        </p:spPr>
        <p:txBody>
          <a:bodyPr wrap="square" rtlCol="0" anchor="ctr"/>
          <a:lstStyle/>
          <a:p>
            <a:pPr marL="0" indent="0">
              <a:buNone/>
            </a:pPr>
            <a:r>
              <a:rPr lang="en-US" sz="1250" dirty="0">
                <a:solidFill>
                  <a:srgbClr val="1F2933"/>
                </a:solidFill>
              </a:rPr>
              <a:t>Shows exactly how comparisons and swaps work.</a:t>
            </a:r>
            <a:endParaRPr lang="en-US" sz="1250" dirty="0"/>
          </a:p>
        </p:txBody>
      </p:sp>
      <p:sp>
        <p:nvSpPr>
          <p:cNvPr id="12" name="Shape 10"/>
          <p:cNvSpPr/>
          <p:nvPr/>
        </p:nvSpPr>
        <p:spPr>
          <a:xfrm>
            <a:off x="786384" y="2468880"/>
            <a:ext cx="10469880" cy="685800"/>
          </a:xfrm>
          <a:prstGeom prst="rect">
            <a:avLst/>
          </a:prstGeom>
          <a:solidFill>
            <a:srgbClr val="EDF4FA"/>
          </a:solidFill>
          <a:ln w="8890">
            <a:solidFill>
              <a:srgbClr val="DCEAF7"/>
            </a:solidFill>
            <a:prstDash val="solid"/>
          </a:ln>
        </p:spPr>
        <p:txBody>
          <a:bodyPr/>
          <a:lstStyle/>
          <a:p>
            <a:endParaRPr lang="en-US"/>
          </a:p>
        </p:txBody>
      </p:sp>
      <p:sp>
        <p:nvSpPr>
          <p:cNvPr id="13" name="Text 11"/>
          <p:cNvSpPr/>
          <p:nvPr/>
        </p:nvSpPr>
        <p:spPr>
          <a:xfrm>
            <a:off x="932688" y="2624328"/>
            <a:ext cx="1078992" cy="201168"/>
          </a:xfrm>
          <a:prstGeom prst="rect">
            <a:avLst/>
          </a:prstGeom>
          <a:noFill/>
          <a:ln/>
        </p:spPr>
        <p:txBody>
          <a:bodyPr wrap="square" rtlCol="0" anchor="ctr"/>
          <a:lstStyle/>
          <a:p>
            <a:pPr marL="0" indent="0">
              <a:buNone/>
            </a:pPr>
            <a:r>
              <a:rPr lang="en-US" sz="1300" b="1" dirty="0">
                <a:solidFill>
                  <a:srgbClr val="173F5F"/>
                </a:solidFill>
              </a:rPr>
              <a:t>Selection</a:t>
            </a:r>
            <a:endParaRPr lang="en-US" sz="1300" dirty="0"/>
          </a:p>
        </p:txBody>
      </p:sp>
      <p:sp>
        <p:nvSpPr>
          <p:cNvPr id="14" name="Text 12"/>
          <p:cNvSpPr/>
          <p:nvPr/>
        </p:nvSpPr>
        <p:spPr>
          <a:xfrm>
            <a:off x="2057400" y="2587752"/>
            <a:ext cx="3474720" cy="310896"/>
          </a:xfrm>
          <a:prstGeom prst="rect">
            <a:avLst/>
          </a:prstGeom>
          <a:noFill/>
          <a:ln/>
        </p:spPr>
        <p:txBody>
          <a:bodyPr wrap="square" rtlCol="0" anchor="ctr"/>
          <a:lstStyle/>
          <a:p>
            <a:pPr marL="0" indent="0">
              <a:buNone/>
            </a:pPr>
            <a:r>
              <a:rPr lang="en-US" sz="1250" dirty="0">
                <a:solidFill>
                  <a:srgbClr val="1F2933"/>
                </a:solidFill>
              </a:rPr>
              <a:t>Quickselect</a:t>
            </a:r>
            <a:endParaRPr lang="en-US" sz="1250" dirty="0"/>
          </a:p>
        </p:txBody>
      </p:sp>
      <p:sp>
        <p:nvSpPr>
          <p:cNvPr id="15" name="Text 13"/>
          <p:cNvSpPr/>
          <p:nvPr/>
        </p:nvSpPr>
        <p:spPr>
          <a:xfrm>
            <a:off x="5623560" y="2587752"/>
            <a:ext cx="5166360" cy="310896"/>
          </a:xfrm>
          <a:prstGeom prst="rect">
            <a:avLst/>
          </a:prstGeom>
          <a:noFill/>
          <a:ln/>
        </p:spPr>
        <p:txBody>
          <a:bodyPr wrap="square" rtlCol="0" anchor="ctr"/>
          <a:lstStyle/>
          <a:p>
            <a:pPr marL="0" indent="0">
              <a:buNone/>
            </a:pPr>
            <a:r>
              <a:rPr lang="en-US" sz="1250" dirty="0">
                <a:solidFill>
                  <a:srgbClr val="1F2933"/>
                </a:solidFill>
              </a:rPr>
              <a:t>Finds the kth smallest value without sorting everything.</a:t>
            </a:r>
            <a:endParaRPr lang="en-US" sz="1250" dirty="0"/>
          </a:p>
        </p:txBody>
      </p:sp>
      <p:sp>
        <p:nvSpPr>
          <p:cNvPr id="16" name="Shape 14"/>
          <p:cNvSpPr/>
          <p:nvPr/>
        </p:nvSpPr>
        <p:spPr>
          <a:xfrm>
            <a:off x="786384" y="3154680"/>
            <a:ext cx="10469880" cy="685800"/>
          </a:xfrm>
          <a:prstGeom prst="rect">
            <a:avLst/>
          </a:prstGeom>
          <a:solidFill>
            <a:srgbClr val="F7FBFE"/>
          </a:solidFill>
          <a:ln w="8890">
            <a:solidFill>
              <a:srgbClr val="DCEAF7"/>
            </a:solidFill>
            <a:prstDash val="solid"/>
          </a:ln>
        </p:spPr>
        <p:txBody>
          <a:bodyPr/>
          <a:lstStyle/>
          <a:p>
            <a:endParaRPr lang="en-US"/>
          </a:p>
        </p:txBody>
      </p:sp>
      <p:sp>
        <p:nvSpPr>
          <p:cNvPr id="17" name="Text 15"/>
          <p:cNvSpPr/>
          <p:nvPr/>
        </p:nvSpPr>
        <p:spPr>
          <a:xfrm>
            <a:off x="932688" y="3310128"/>
            <a:ext cx="1078992" cy="201168"/>
          </a:xfrm>
          <a:prstGeom prst="rect">
            <a:avLst/>
          </a:prstGeom>
          <a:noFill/>
          <a:ln/>
        </p:spPr>
        <p:txBody>
          <a:bodyPr wrap="square" rtlCol="0" anchor="ctr"/>
          <a:lstStyle/>
          <a:p>
            <a:pPr marL="0" indent="0">
              <a:buNone/>
            </a:pPr>
            <a:r>
              <a:rPr lang="en-US" sz="1300" b="1" dirty="0">
                <a:solidFill>
                  <a:srgbClr val="173F5F"/>
                </a:solidFill>
              </a:rPr>
              <a:t>Sets</a:t>
            </a:r>
            <a:endParaRPr lang="en-US" sz="1300" dirty="0"/>
          </a:p>
        </p:txBody>
      </p:sp>
      <p:sp>
        <p:nvSpPr>
          <p:cNvPr id="18" name="Text 16"/>
          <p:cNvSpPr/>
          <p:nvPr/>
        </p:nvSpPr>
        <p:spPr>
          <a:xfrm>
            <a:off x="2057400" y="3273552"/>
            <a:ext cx="3474720" cy="310896"/>
          </a:xfrm>
          <a:prstGeom prst="rect">
            <a:avLst/>
          </a:prstGeom>
          <a:noFill/>
          <a:ln/>
        </p:spPr>
        <p:txBody>
          <a:bodyPr wrap="square" rtlCol="0" anchor="ctr"/>
          <a:lstStyle/>
          <a:p>
            <a:pPr marL="0" indent="0">
              <a:buNone/>
            </a:pPr>
            <a:r>
              <a:rPr lang="en-US" sz="1250" dirty="0">
                <a:solidFill>
                  <a:srgbClr val="1F2933"/>
                </a:solidFill>
              </a:rPr>
              <a:t>Union, intersection, difference, symmetric difference</a:t>
            </a:r>
            <a:endParaRPr lang="en-US" sz="1250" dirty="0"/>
          </a:p>
        </p:txBody>
      </p:sp>
      <p:sp>
        <p:nvSpPr>
          <p:cNvPr id="19" name="Text 17"/>
          <p:cNvSpPr/>
          <p:nvPr/>
        </p:nvSpPr>
        <p:spPr>
          <a:xfrm>
            <a:off x="5623560" y="3273552"/>
            <a:ext cx="5166360" cy="310896"/>
          </a:xfrm>
          <a:prstGeom prst="rect">
            <a:avLst/>
          </a:prstGeom>
          <a:noFill/>
          <a:ln/>
        </p:spPr>
        <p:txBody>
          <a:bodyPr wrap="square" rtlCol="0" anchor="ctr"/>
          <a:lstStyle/>
          <a:p>
            <a:pPr marL="0" indent="0">
              <a:buNone/>
            </a:pPr>
            <a:r>
              <a:rPr lang="en-US" sz="1250" dirty="0">
                <a:solidFill>
                  <a:srgbClr val="1F2933"/>
                </a:solidFill>
              </a:rPr>
              <a:t>Demonstrates collection comparison and filtering.</a:t>
            </a:r>
            <a:endParaRPr lang="en-US" sz="1250" dirty="0"/>
          </a:p>
        </p:txBody>
      </p:sp>
      <p:sp>
        <p:nvSpPr>
          <p:cNvPr id="20" name="Shape 18"/>
          <p:cNvSpPr/>
          <p:nvPr/>
        </p:nvSpPr>
        <p:spPr>
          <a:xfrm>
            <a:off x="786384" y="3840480"/>
            <a:ext cx="10469880" cy="685800"/>
          </a:xfrm>
          <a:prstGeom prst="rect">
            <a:avLst/>
          </a:prstGeom>
          <a:solidFill>
            <a:srgbClr val="EDF4FA"/>
          </a:solidFill>
          <a:ln w="8890">
            <a:solidFill>
              <a:srgbClr val="DCEAF7"/>
            </a:solidFill>
            <a:prstDash val="solid"/>
          </a:ln>
        </p:spPr>
        <p:txBody>
          <a:bodyPr/>
          <a:lstStyle/>
          <a:p>
            <a:endParaRPr lang="en-US"/>
          </a:p>
        </p:txBody>
      </p:sp>
      <p:sp>
        <p:nvSpPr>
          <p:cNvPr id="21" name="Text 19"/>
          <p:cNvSpPr/>
          <p:nvPr/>
        </p:nvSpPr>
        <p:spPr>
          <a:xfrm>
            <a:off x="932688" y="3995928"/>
            <a:ext cx="1078992" cy="201168"/>
          </a:xfrm>
          <a:prstGeom prst="rect">
            <a:avLst/>
          </a:prstGeom>
          <a:noFill/>
          <a:ln/>
        </p:spPr>
        <p:txBody>
          <a:bodyPr wrap="square" rtlCol="0" anchor="ctr"/>
          <a:lstStyle/>
          <a:p>
            <a:pPr marL="0" indent="0">
              <a:buNone/>
            </a:pPr>
            <a:r>
              <a:rPr lang="en-US" sz="1300" b="1" dirty="0">
                <a:solidFill>
                  <a:srgbClr val="173F5F"/>
                </a:solidFill>
              </a:rPr>
              <a:t>Structures</a:t>
            </a:r>
            <a:endParaRPr lang="en-US" sz="1300" dirty="0"/>
          </a:p>
        </p:txBody>
      </p:sp>
      <p:sp>
        <p:nvSpPr>
          <p:cNvPr id="22" name="Text 20"/>
          <p:cNvSpPr/>
          <p:nvPr/>
        </p:nvSpPr>
        <p:spPr>
          <a:xfrm>
            <a:off x="2057400" y="3959352"/>
            <a:ext cx="3474720" cy="310896"/>
          </a:xfrm>
          <a:prstGeom prst="rect">
            <a:avLst/>
          </a:prstGeom>
          <a:noFill/>
          <a:ln/>
        </p:spPr>
        <p:txBody>
          <a:bodyPr wrap="square" rtlCol="0" anchor="ctr"/>
          <a:lstStyle/>
          <a:p>
            <a:pPr marL="0" indent="0">
              <a:buNone/>
            </a:pPr>
            <a:r>
              <a:rPr lang="en-US" sz="1250" dirty="0">
                <a:solidFill>
                  <a:srgbClr val="1F2933"/>
                </a:solidFill>
              </a:rPr>
              <a:t>Stack, queue, BST, graph, hash table</a:t>
            </a:r>
            <a:endParaRPr lang="en-US" sz="1250" dirty="0"/>
          </a:p>
        </p:txBody>
      </p:sp>
      <p:sp>
        <p:nvSpPr>
          <p:cNvPr id="23" name="Text 21"/>
          <p:cNvSpPr/>
          <p:nvPr/>
        </p:nvSpPr>
        <p:spPr>
          <a:xfrm>
            <a:off x="5623560" y="3959352"/>
            <a:ext cx="5166360" cy="310896"/>
          </a:xfrm>
          <a:prstGeom prst="rect">
            <a:avLst/>
          </a:prstGeom>
          <a:noFill/>
          <a:ln/>
        </p:spPr>
        <p:txBody>
          <a:bodyPr wrap="square" rtlCol="0" anchor="ctr"/>
          <a:lstStyle/>
          <a:p>
            <a:pPr marL="0" indent="0">
              <a:buNone/>
            </a:pPr>
            <a:r>
              <a:rPr lang="en-US" sz="1250" dirty="0">
                <a:solidFill>
                  <a:srgbClr val="1F2933"/>
                </a:solidFill>
              </a:rPr>
              <a:t>Shows different data organization patterns.</a:t>
            </a:r>
            <a:endParaRPr lang="en-US" sz="1250" dirty="0"/>
          </a:p>
        </p:txBody>
      </p:sp>
      <p:sp>
        <p:nvSpPr>
          <p:cNvPr id="24" name="Shape 22"/>
          <p:cNvSpPr/>
          <p:nvPr/>
        </p:nvSpPr>
        <p:spPr>
          <a:xfrm>
            <a:off x="786384" y="4526280"/>
            <a:ext cx="10469880" cy="685800"/>
          </a:xfrm>
          <a:prstGeom prst="rect">
            <a:avLst/>
          </a:prstGeom>
          <a:solidFill>
            <a:srgbClr val="F7FBFE"/>
          </a:solidFill>
          <a:ln w="8890">
            <a:solidFill>
              <a:srgbClr val="DCEAF7"/>
            </a:solidFill>
            <a:prstDash val="solid"/>
          </a:ln>
        </p:spPr>
        <p:txBody>
          <a:bodyPr/>
          <a:lstStyle/>
          <a:p>
            <a:endParaRPr lang="en-US"/>
          </a:p>
        </p:txBody>
      </p:sp>
      <p:sp>
        <p:nvSpPr>
          <p:cNvPr id="25" name="Text 23"/>
          <p:cNvSpPr/>
          <p:nvPr/>
        </p:nvSpPr>
        <p:spPr>
          <a:xfrm>
            <a:off x="932688" y="4681728"/>
            <a:ext cx="1078992" cy="201168"/>
          </a:xfrm>
          <a:prstGeom prst="rect">
            <a:avLst/>
          </a:prstGeom>
          <a:noFill/>
          <a:ln/>
        </p:spPr>
        <p:txBody>
          <a:bodyPr wrap="square" rtlCol="0" anchor="ctr"/>
          <a:lstStyle/>
          <a:p>
            <a:pPr marL="0" indent="0">
              <a:buNone/>
            </a:pPr>
            <a:r>
              <a:rPr lang="en-US" sz="1300" b="1" dirty="0">
                <a:solidFill>
                  <a:srgbClr val="173F5F"/>
                </a:solidFill>
              </a:rPr>
              <a:t>Evaluation</a:t>
            </a:r>
            <a:endParaRPr lang="en-US" sz="1300" dirty="0"/>
          </a:p>
        </p:txBody>
      </p:sp>
      <p:sp>
        <p:nvSpPr>
          <p:cNvPr id="26" name="Text 24"/>
          <p:cNvSpPr/>
          <p:nvPr/>
        </p:nvSpPr>
        <p:spPr>
          <a:xfrm>
            <a:off x="2057400" y="4645152"/>
            <a:ext cx="3474720" cy="310896"/>
          </a:xfrm>
          <a:prstGeom prst="rect">
            <a:avLst/>
          </a:prstGeom>
          <a:noFill/>
          <a:ln/>
        </p:spPr>
        <p:txBody>
          <a:bodyPr wrap="square" rtlCol="0" anchor="ctr"/>
          <a:lstStyle/>
          <a:p>
            <a:pPr marL="0" indent="0">
              <a:buNone/>
            </a:pPr>
            <a:r>
              <a:rPr lang="en-US" sz="1250" dirty="0">
                <a:solidFill>
                  <a:srgbClr val="1F2933"/>
                </a:solidFill>
              </a:rPr>
              <a:t>Performance analysis</a:t>
            </a:r>
            <a:endParaRPr lang="en-US" sz="1250" dirty="0"/>
          </a:p>
        </p:txBody>
      </p:sp>
      <p:sp>
        <p:nvSpPr>
          <p:cNvPr id="27" name="Text 25"/>
          <p:cNvSpPr/>
          <p:nvPr/>
        </p:nvSpPr>
        <p:spPr>
          <a:xfrm>
            <a:off x="5623560" y="4645152"/>
            <a:ext cx="5166360" cy="310896"/>
          </a:xfrm>
          <a:prstGeom prst="rect">
            <a:avLst/>
          </a:prstGeom>
          <a:noFill/>
          <a:ln/>
        </p:spPr>
        <p:txBody>
          <a:bodyPr wrap="square" rtlCol="0" anchor="ctr"/>
          <a:lstStyle/>
          <a:p>
            <a:pPr marL="0" indent="0">
              <a:buNone/>
            </a:pPr>
            <a:r>
              <a:rPr lang="en-US" sz="1250" dirty="0">
                <a:solidFill>
                  <a:srgbClr val="1F2933"/>
                </a:solidFill>
              </a:rPr>
              <a:t>Moves the project beyond correctness into trade-offs.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411480" y="128016"/>
            <a:ext cx="10241280" cy="274320"/>
          </a:xfrm>
          <a:prstGeom prst="rect">
            <a:avLst/>
          </a:prstGeom>
          <a:noFill/>
          <a:ln/>
        </p:spPr>
        <p:txBody>
          <a:bodyPr wrap="square"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System Architecture</a:t>
            </a:r>
            <a:endParaRPr lang="en-US" sz="2400" dirty="0"/>
          </a:p>
        </p:txBody>
      </p:sp>
      <p:sp>
        <p:nvSpPr>
          <p:cNvPr id="4" name="Shape 2"/>
          <p:cNvSpPr/>
          <p:nvPr/>
        </p:nvSpPr>
        <p:spPr>
          <a:xfrm>
            <a:off x="365760" y="704088"/>
            <a:ext cx="11430000" cy="0"/>
          </a:xfrm>
          <a:prstGeom prst="line">
            <a:avLst/>
          </a:prstGeom>
          <a:noFill/>
          <a:ln w="15240">
            <a:solidFill>
              <a:srgbClr val="DCEAF7"/>
            </a:solidFill>
            <a:prstDash val="solid"/>
          </a:ln>
        </p:spPr>
        <p:txBody>
          <a:bodyPr/>
          <a:lstStyle/>
          <a:p>
            <a:endParaRPr lang="en-US"/>
          </a:p>
        </p:txBody>
      </p:sp>
      <p:sp>
        <p:nvSpPr>
          <p:cNvPr id="5" name="Text 3"/>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
        <p:nvSpPr>
          <p:cNvPr id="6" name="Shape 4"/>
          <p:cNvSpPr/>
          <p:nvPr/>
        </p:nvSpPr>
        <p:spPr>
          <a:xfrm>
            <a:off x="685800" y="1417320"/>
            <a:ext cx="2011680" cy="841248"/>
          </a:xfrm>
          <a:prstGeom prst="roundRect">
            <a:avLst>
              <a:gd name="adj" fmla="val 5435"/>
            </a:avLst>
          </a:prstGeom>
          <a:solidFill>
            <a:srgbClr val="DCEAF7"/>
          </a:solidFill>
          <a:ln w="13970">
            <a:solidFill>
              <a:srgbClr val="20639B"/>
            </a:solidFill>
            <a:prstDash val="solid"/>
          </a:ln>
        </p:spPr>
        <p:txBody>
          <a:bodyPr/>
          <a:lstStyle/>
          <a:p>
            <a:endParaRPr lang="en-US"/>
          </a:p>
        </p:txBody>
      </p:sp>
      <p:sp>
        <p:nvSpPr>
          <p:cNvPr id="7" name="Text 5"/>
          <p:cNvSpPr/>
          <p:nvPr/>
        </p:nvSpPr>
        <p:spPr>
          <a:xfrm>
            <a:off x="932688" y="1664208"/>
            <a:ext cx="1508760" cy="347472"/>
          </a:xfrm>
          <a:prstGeom prst="rect">
            <a:avLst/>
          </a:prstGeom>
          <a:noFill/>
          <a:ln/>
        </p:spPr>
        <p:txBody>
          <a:bodyPr wrap="square" rtlCol="0" anchor="ctr"/>
          <a:lstStyle/>
          <a:p>
            <a:pPr marL="0" indent="0" algn="ctr">
              <a:buNone/>
            </a:pPr>
            <a:r>
              <a:rPr lang="en-US" sz="1900" b="1" dirty="0">
                <a:solidFill>
                  <a:srgbClr val="173F5F"/>
                </a:solidFill>
              </a:rPr>
              <a:t>User Interface</a:t>
            </a:r>
            <a:endParaRPr lang="en-US" sz="1900" dirty="0"/>
          </a:p>
          <a:p>
            <a:pPr marL="0" indent="0" algn="ctr">
              <a:buNone/>
            </a:pPr>
            <a:r>
              <a:rPr lang="en-US" sz="1900" b="1" dirty="0">
                <a:solidFill>
                  <a:srgbClr val="173F5F"/>
                </a:solidFill>
              </a:rPr>
              <a:t>(menu)</a:t>
            </a:r>
            <a:endParaRPr lang="en-US" sz="1900" dirty="0"/>
          </a:p>
        </p:txBody>
      </p:sp>
      <p:sp>
        <p:nvSpPr>
          <p:cNvPr id="8" name="Shape 6"/>
          <p:cNvSpPr/>
          <p:nvPr/>
        </p:nvSpPr>
        <p:spPr>
          <a:xfrm>
            <a:off x="2834640" y="1664208"/>
            <a:ext cx="713232" cy="274320"/>
          </a:xfrm>
          <a:prstGeom prst="chevron">
            <a:avLst/>
          </a:prstGeom>
          <a:solidFill>
            <a:srgbClr val="20639B"/>
          </a:solidFill>
          <a:ln w="12700">
            <a:solidFill>
              <a:srgbClr val="20639B"/>
            </a:solidFill>
            <a:prstDash val="solid"/>
          </a:ln>
        </p:spPr>
        <p:txBody>
          <a:bodyPr/>
          <a:lstStyle/>
          <a:p>
            <a:endParaRPr lang="en-US"/>
          </a:p>
        </p:txBody>
      </p:sp>
      <p:sp>
        <p:nvSpPr>
          <p:cNvPr id="9" name="Shape 7"/>
          <p:cNvSpPr/>
          <p:nvPr/>
        </p:nvSpPr>
        <p:spPr>
          <a:xfrm>
            <a:off x="3749040" y="1124712"/>
            <a:ext cx="2743200" cy="1115568"/>
          </a:xfrm>
          <a:prstGeom prst="roundRect">
            <a:avLst>
              <a:gd name="adj" fmla="val 4098"/>
            </a:avLst>
          </a:prstGeom>
          <a:solidFill>
            <a:srgbClr val="FFFFFF"/>
          </a:solidFill>
          <a:ln w="16510">
            <a:solidFill>
              <a:srgbClr val="3CAEA3"/>
            </a:solidFill>
            <a:prstDash val="solid"/>
          </a:ln>
        </p:spPr>
        <p:txBody>
          <a:bodyPr/>
          <a:lstStyle/>
          <a:p>
            <a:endParaRPr lang="en-US"/>
          </a:p>
        </p:txBody>
      </p:sp>
      <p:sp>
        <p:nvSpPr>
          <p:cNvPr id="10" name="Text 8"/>
          <p:cNvSpPr/>
          <p:nvPr/>
        </p:nvSpPr>
        <p:spPr>
          <a:xfrm>
            <a:off x="4041648" y="1344168"/>
            <a:ext cx="2194560" cy="731520"/>
          </a:xfrm>
          <a:prstGeom prst="rect">
            <a:avLst/>
          </a:prstGeom>
          <a:noFill/>
          <a:ln/>
        </p:spPr>
        <p:txBody>
          <a:bodyPr wrap="square" rtlCol="0" anchor="ctr"/>
          <a:lstStyle/>
          <a:p>
            <a:pPr marL="0" indent="0" algn="ctr">
              <a:buNone/>
            </a:pPr>
            <a:r>
              <a:rPr lang="en-US" sz="1700" dirty="0">
                <a:solidFill>
                  <a:srgbClr val="1F2933"/>
                </a:solidFill>
              </a:rPr>
              <a:t>Algorithms</a:t>
            </a:r>
            <a:endParaRPr lang="en-US" sz="1700" dirty="0"/>
          </a:p>
          <a:p>
            <a:pPr lvl="1" algn="ctr"/>
            <a:r>
              <a:rPr lang="en-US" sz="1700" dirty="0">
                <a:solidFill>
                  <a:srgbClr val="1F2933"/>
                </a:solidFill>
              </a:rPr>
              <a:t>• Bubble sort</a:t>
            </a:r>
            <a:endParaRPr lang="en-US" sz="1700" dirty="0"/>
          </a:p>
          <a:p>
            <a:pPr lvl="1" algn="ctr"/>
            <a:r>
              <a:rPr lang="en-US" sz="1700" dirty="0">
                <a:solidFill>
                  <a:srgbClr val="1F2933"/>
                </a:solidFill>
              </a:rPr>
              <a:t>• Quickselect</a:t>
            </a:r>
            <a:endParaRPr lang="en-US" sz="1700" dirty="0"/>
          </a:p>
        </p:txBody>
      </p:sp>
      <p:sp>
        <p:nvSpPr>
          <p:cNvPr id="11" name="Shape 9"/>
          <p:cNvSpPr/>
          <p:nvPr/>
        </p:nvSpPr>
        <p:spPr>
          <a:xfrm>
            <a:off x="3749040" y="2816352"/>
            <a:ext cx="2743200" cy="1435608"/>
          </a:xfrm>
          <a:prstGeom prst="roundRect">
            <a:avLst>
              <a:gd name="adj" fmla="val 3185"/>
            </a:avLst>
          </a:prstGeom>
          <a:solidFill>
            <a:srgbClr val="FFFFFF"/>
          </a:solidFill>
          <a:ln w="16510">
            <a:solidFill>
              <a:srgbClr val="3CAEA3"/>
            </a:solidFill>
            <a:prstDash val="solid"/>
          </a:ln>
        </p:spPr>
        <p:txBody>
          <a:bodyPr/>
          <a:lstStyle/>
          <a:p>
            <a:endParaRPr lang="en-US"/>
          </a:p>
        </p:txBody>
      </p:sp>
      <p:sp>
        <p:nvSpPr>
          <p:cNvPr id="12" name="Text 10"/>
          <p:cNvSpPr/>
          <p:nvPr/>
        </p:nvSpPr>
        <p:spPr>
          <a:xfrm>
            <a:off x="3547873" y="3017520"/>
            <a:ext cx="2548128" cy="1060704"/>
          </a:xfrm>
          <a:prstGeom prst="rect">
            <a:avLst/>
          </a:prstGeom>
          <a:noFill/>
          <a:ln/>
        </p:spPr>
        <p:txBody>
          <a:bodyPr wrap="square" rtlCol="0" anchor="ctr"/>
          <a:lstStyle/>
          <a:p>
            <a:pPr marL="0" indent="0" algn="ctr">
              <a:buNone/>
            </a:pPr>
            <a:r>
              <a:rPr lang="en-US" sz="1600" dirty="0">
                <a:solidFill>
                  <a:srgbClr val="1F2933"/>
                </a:solidFill>
              </a:rPr>
              <a:t>Data Structures</a:t>
            </a:r>
            <a:endParaRPr lang="en-US" sz="1600" dirty="0"/>
          </a:p>
          <a:p>
            <a:pPr lvl="2"/>
            <a:r>
              <a:rPr lang="en-US" sz="1600" dirty="0">
                <a:solidFill>
                  <a:srgbClr val="1F2933"/>
                </a:solidFill>
              </a:rPr>
              <a:t>• Set class</a:t>
            </a:r>
            <a:endParaRPr lang="en-US" sz="1600" dirty="0"/>
          </a:p>
          <a:p>
            <a:pPr lvl="2"/>
            <a:r>
              <a:rPr lang="en-US" sz="1600" dirty="0">
                <a:solidFill>
                  <a:srgbClr val="1F2933"/>
                </a:solidFill>
              </a:rPr>
              <a:t>• Stack / Queue</a:t>
            </a:r>
            <a:endParaRPr lang="en-US" sz="1600" dirty="0"/>
          </a:p>
          <a:p>
            <a:pPr lvl="2"/>
            <a:r>
              <a:rPr lang="en-US" sz="1600" dirty="0">
                <a:solidFill>
                  <a:srgbClr val="1F2933"/>
                </a:solidFill>
              </a:rPr>
              <a:t>• Tree / Graph / Hash table</a:t>
            </a:r>
            <a:endParaRPr lang="en-US" sz="1600" dirty="0"/>
          </a:p>
        </p:txBody>
      </p:sp>
      <p:sp>
        <p:nvSpPr>
          <p:cNvPr id="13" name="Shape 11"/>
          <p:cNvSpPr/>
          <p:nvPr/>
        </p:nvSpPr>
        <p:spPr>
          <a:xfrm>
            <a:off x="6711696" y="2249424"/>
            <a:ext cx="713232" cy="274320"/>
          </a:xfrm>
          <a:prstGeom prst="chevron">
            <a:avLst/>
          </a:prstGeom>
          <a:solidFill>
            <a:srgbClr val="20639B"/>
          </a:solidFill>
          <a:ln w="12700">
            <a:solidFill>
              <a:srgbClr val="20639B"/>
            </a:solidFill>
            <a:prstDash val="solid"/>
          </a:ln>
        </p:spPr>
        <p:txBody>
          <a:bodyPr/>
          <a:lstStyle/>
          <a:p>
            <a:endParaRPr lang="en-US"/>
          </a:p>
        </p:txBody>
      </p:sp>
      <p:sp>
        <p:nvSpPr>
          <p:cNvPr id="14" name="Shape 12"/>
          <p:cNvSpPr/>
          <p:nvPr/>
        </p:nvSpPr>
        <p:spPr>
          <a:xfrm>
            <a:off x="7699248" y="1801368"/>
            <a:ext cx="3401568" cy="1444752"/>
          </a:xfrm>
          <a:prstGeom prst="roundRect">
            <a:avLst>
              <a:gd name="adj" fmla="val 3165"/>
            </a:avLst>
          </a:prstGeom>
          <a:solidFill>
            <a:srgbClr val="FFFFFF"/>
          </a:solidFill>
          <a:ln w="16510">
            <a:solidFill>
              <a:srgbClr val="F6D55C"/>
            </a:solidFill>
            <a:prstDash val="solid"/>
          </a:ln>
        </p:spPr>
        <p:txBody>
          <a:bodyPr/>
          <a:lstStyle/>
          <a:p>
            <a:endParaRPr lang="en-US"/>
          </a:p>
        </p:txBody>
      </p:sp>
      <p:sp>
        <p:nvSpPr>
          <p:cNvPr id="15" name="Text 13"/>
          <p:cNvSpPr/>
          <p:nvPr/>
        </p:nvSpPr>
        <p:spPr>
          <a:xfrm>
            <a:off x="8001000" y="2103120"/>
            <a:ext cx="2779776" cy="731520"/>
          </a:xfrm>
          <a:prstGeom prst="rect">
            <a:avLst/>
          </a:prstGeom>
          <a:noFill/>
          <a:ln/>
        </p:spPr>
        <p:txBody>
          <a:bodyPr wrap="square" rtlCol="0" anchor="ctr"/>
          <a:lstStyle/>
          <a:p>
            <a:pPr marL="0" indent="0" algn="ctr">
              <a:buNone/>
            </a:pPr>
            <a:r>
              <a:rPr lang="en-US" sz="1800" dirty="0">
                <a:solidFill>
                  <a:srgbClr val="1F2933"/>
                </a:solidFill>
              </a:rPr>
              <a:t>Performance Analysis</a:t>
            </a:r>
            <a:endParaRPr lang="en-US" sz="1800" dirty="0"/>
          </a:p>
          <a:p>
            <a:pPr lvl="1"/>
            <a:r>
              <a:rPr lang="en-US" dirty="0">
                <a:solidFill>
                  <a:srgbClr val="1F2933"/>
                </a:solidFill>
              </a:rPr>
              <a:t>• timing comparison</a:t>
            </a:r>
            <a:endParaRPr lang="en-US" dirty="0"/>
          </a:p>
          <a:p>
            <a:pPr lvl="1"/>
            <a:r>
              <a:rPr lang="en-US" dirty="0">
                <a:solidFill>
                  <a:srgbClr val="1F2933"/>
                </a:solidFill>
              </a:rPr>
              <a:t>• trade-off discussion</a:t>
            </a:r>
            <a:endParaRPr lang="en-US" dirty="0"/>
          </a:p>
        </p:txBody>
      </p:sp>
      <p:sp>
        <p:nvSpPr>
          <p:cNvPr id="16" name="Text 14"/>
          <p:cNvSpPr/>
          <p:nvPr/>
        </p:nvSpPr>
        <p:spPr>
          <a:xfrm>
            <a:off x="786384" y="5029200"/>
            <a:ext cx="10424160" cy="411480"/>
          </a:xfrm>
          <a:prstGeom prst="rect">
            <a:avLst/>
          </a:prstGeom>
          <a:noFill/>
          <a:ln/>
        </p:spPr>
        <p:txBody>
          <a:bodyPr wrap="square" rtlCol="0" anchor="ctr"/>
          <a:lstStyle/>
          <a:p>
            <a:pPr marL="0" indent="0">
              <a:buNone/>
            </a:pPr>
            <a:r>
              <a:rPr lang="en-US" sz="1700" dirty="0">
                <a:solidFill>
                  <a:srgbClr val="1F2933"/>
                </a:solidFill>
              </a:rPr>
              <a:t>The modular structure separates interface, algorithms, data structures, and evaluation. That improves readability, maintainability, and presentation quality.</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411480" y="128016"/>
            <a:ext cx="10241280" cy="274320"/>
          </a:xfrm>
          <a:prstGeom prst="rect">
            <a:avLst/>
          </a:prstGeom>
          <a:noFill/>
          <a:ln/>
        </p:spPr>
        <p:txBody>
          <a:bodyPr wrap="square"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Bubble Sort Demo and Interpretation</a:t>
            </a:r>
            <a:endParaRPr lang="en-US" sz="2400" dirty="0"/>
          </a:p>
        </p:txBody>
      </p:sp>
      <p:sp>
        <p:nvSpPr>
          <p:cNvPr id="4" name="Shape 2"/>
          <p:cNvSpPr/>
          <p:nvPr/>
        </p:nvSpPr>
        <p:spPr>
          <a:xfrm>
            <a:off x="365760" y="704088"/>
            <a:ext cx="11430000" cy="0"/>
          </a:xfrm>
          <a:prstGeom prst="line">
            <a:avLst/>
          </a:prstGeom>
          <a:noFill/>
          <a:ln w="15240">
            <a:solidFill>
              <a:srgbClr val="DCEAF7"/>
            </a:solidFill>
            <a:prstDash val="solid"/>
          </a:ln>
        </p:spPr>
        <p:txBody>
          <a:bodyPr/>
          <a:lstStyle/>
          <a:p>
            <a:endParaRPr lang="en-US"/>
          </a:p>
        </p:txBody>
      </p:sp>
      <p:sp>
        <p:nvSpPr>
          <p:cNvPr id="5" name="Text 3"/>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
        <p:nvSpPr>
          <p:cNvPr id="6" name="Text 4"/>
          <p:cNvSpPr/>
          <p:nvPr/>
        </p:nvSpPr>
        <p:spPr>
          <a:xfrm>
            <a:off x="786384" y="1078992"/>
            <a:ext cx="1828800" cy="201168"/>
          </a:xfrm>
          <a:prstGeom prst="rect">
            <a:avLst/>
          </a:prstGeom>
          <a:noFill/>
          <a:ln/>
        </p:spPr>
        <p:txBody>
          <a:bodyPr wrap="square" rtlCol="0" anchor="ctr"/>
          <a:lstStyle/>
          <a:p>
            <a:pPr marL="0" indent="0">
              <a:buNone/>
            </a:pPr>
            <a:r>
              <a:rPr lang="en-US" sz="1800" b="1" dirty="0">
                <a:solidFill>
                  <a:srgbClr val="173F5F"/>
                </a:solidFill>
              </a:rPr>
              <a:t>Example input</a:t>
            </a:r>
            <a:endParaRPr lang="en-US" sz="1800" dirty="0"/>
          </a:p>
        </p:txBody>
      </p:sp>
      <p:sp>
        <p:nvSpPr>
          <p:cNvPr id="7" name="Shape 5"/>
          <p:cNvSpPr/>
          <p:nvPr/>
        </p:nvSpPr>
        <p:spPr>
          <a:xfrm>
            <a:off x="786384" y="1389888"/>
            <a:ext cx="2057400" cy="658368"/>
          </a:xfrm>
          <a:prstGeom prst="roundRect">
            <a:avLst>
              <a:gd name="adj" fmla="val 5556"/>
            </a:avLst>
          </a:prstGeom>
          <a:solidFill>
            <a:srgbClr val="FFFFFF"/>
          </a:solidFill>
          <a:ln w="12700">
            <a:solidFill>
              <a:srgbClr val="DCEAF7"/>
            </a:solidFill>
            <a:prstDash val="solid"/>
          </a:ln>
        </p:spPr>
        <p:txBody>
          <a:bodyPr/>
          <a:lstStyle/>
          <a:p>
            <a:endParaRPr lang="en-US"/>
          </a:p>
        </p:txBody>
      </p:sp>
      <p:sp>
        <p:nvSpPr>
          <p:cNvPr id="8" name="Text 6"/>
          <p:cNvSpPr/>
          <p:nvPr/>
        </p:nvSpPr>
        <p:spPr>
          <a:xfrm>
            <a:off x="987552" y="1627632"/>
            <a:ext cx="1645920" cy="182880"/>
          </a:xfrm>
          <a:prstGeom prst="rect">
            <a:avLst/>
          </a:prstGeom>
          <a:noFill/>
          <a:ln/>
        </p:spPr>
        <p:txBody>
          <a:bodyPr wrap="square" rtlCol="0" anchor="ctr"/>
          <a:lstStyle/>
          <a:p>
            <a:pPr marL="0" indent="0" algn="ctr">
              <a:buNone/>
            </a:pPr>
            <a:r>
              <a:rPr lang="en-US" sz="1800" b="1" dirty="0">
                <a:solidFill>
                  <a:srgbClr val="1F2933"/>
                </a:solidFill>
              </a:rPr>
              <a:t>[5, 2, 9, 1, 6]</a:t>
            </a:r>
            <a:endParaRPr lang="en-US" sz="1800" dirty="0"/>
          </a:p>
        </p:txBody>
      </p:sp>
      <p:sp>
        <p:nvSpPr>
          <p:cNvPr id="9" name="Text 7"/>
          <p:cNvSpPr/>
          <p:nvPr/>
        </p:nvSpPr>
        <p:spPr>
          <a:xfrm>
            <a:off x="3154680" y="1078992"/>
            <a:ext cx="2743200" cy="201168"/>
          </a:xfrm>
          <a:prstGeom prst="rect">
            <a:avLst/>
          </a:prstGeom>
          <a:noFill/>
          <a:ln/>
        </p:spPr>
        <p:txBody>
          <a:bodyPr wrap="square" rtlCol="0" anchor="ctr"/>
          <a:lstStyle/>
          <a:p>
            <a:pPr marL="0" indent="0">
              <a:buNone/>
            </a:pPr>
            <a:r>
              <a:rPr lang="en-US" sz="1800" b="1" dirty="0">
                <a:solidFill>
                  <a:srgbClr val="173F5F"/>
                </a:solidFill>
              </a:rPr>
              <a:t>Step-by-step behavior</a:t>
            </a:r>
            <a:endParaRPr lang="en-US" sz="1800" dirty="0"/>
          </a:p>
        </p:txBody>
      </p:sp>
      <p:sp>
        <p:nvSpPr>
          <p:cNvPr id="10" name="Text 8"/>
          <p:cNvSpPr/>
          <p:nvPr/>
        </p:nvSpPr>
        <p:spPr>
          <a:xfrm>
            <a:off x="3154680" y="1444752"/>
            <a:ext cx="4160520" cy="1508760"/>
          </a:xfrm>
          <a:prstGeom prst="rect">
            <a:avLst/>
          </a:prstGeom>
          <a:noFill/>
          <a:ln/>
        </p:spPr>
        <p:txBody>
          <a:bodyPr wrap="square" rtlCol="0" anchor="ctr"/>
          <a:lstStyle/>
          <a:p>
            <a:pPr marL="177800" indent="-177800">
              <a:buSzPct val="100000"/>
              <a:buChar char="•"/>
            </a:pPr>
            <a:r>
              <a:rPr lang="en-US" sz="1500" dirty="0">
                <a:solidFill>
                  <a:srgbClr val="1F2933"/>
                </a:solidFill>
              </a:rPr>
              <a:t>Compare adjacent values and swap when needed</a:t>
            </a:r>
            <a:endParaRPr lang="en-US" sz="1500" dirty="0"/>
          </a:p>
          <a:p>
            <a:pPr marL="177800" indent="-177800">
              <a:buSzPct val="100000"/>
              <a:buChar char="•"/>
            </a:pPr>
            <a:r>
              <a:rPr lang="en-US" sz="1500" dirty="0">
                <a:solidFill>
                  <a:srgbClr val="1F2933"/>
                </a:solidFill>
              </a:rPr>
              <a:t>After each pass, the largest unsorted value moves right</a:t>
            </a:r>
            <a:endParaRPr lang="en-US" sz="1500" dirty="0"/>
          </a:p>
          <a:p>
            <a:pPr marL="177800" indent="-177800">
              <a:buSzPct val="100000"/>
              <a:buChar char="•"/>
            </a:pPr>
            <a:r>
              <a:rPr lang="en-US" sz="1500" dirty="0">
                <a:solidFill>
                  <a:srgbClr val="1F2933"/>
                </a:solidFill>
              </a:rPr>
              <a:t>Stop once a pass completes with no swaps</a:t>
            </a:r>
            <a:endParaRPr lang="en-US" sz="1500" dirty="0"/>
          </a:p>
        </p:txBody>
      </p:sp>
      <p:sp>
        <p:nvSpPr>
          <p:cNvPr id="11" name="Shape 9"/>
          <p:cNvSpPr/>
          <p:nvPr/>
        </p:nvSpPr>
        <p:spPr>
          <a:xfrm>
            <a:off x="7818120" y="1252728"/>
            <a:ext cx="3383280" cy="1828800"/>
          </a:xfrm>
          <a:prstGeom prst="roundRect">
            <a:avLst>
              <a:gd name="adj" fmla="val 2500"/>
            </a:avLst>
          </a:prstGeom>
          <a:solidFill>
            <a:srgbClr val="DCEAF7"/>
          </a:solidFill>
          <a:ln w="13970">
            <a:solidFill>
              <a:srgbClr val="20639B"/>
            </a:solidFill>
            <a:prstDash val="solid"/>
          </a:ln>
        </p:spPr>
        <p:txBody>
          <a:bodyPr/>
          <a:lstStyle/>
          <a:p>
            <a:endParaRPr lang="en-US"/>
          </a:p>
        </p:txBody>
      </p:sp>
      <p:sp>
        <p:nvSpPr>
          <p:cNvPr id="12" name="Text 10"/>
          <p:cNvSpPr/>
          <p:nvPr/>
        </p:nvSpPr>
        <p:spPr>
          <a:xfrm>
            <a:off x="8110728" y="1572768"/>
            <a:ext cx="2798064" cy="1097280"/>
          </a:xfrm>
          <a:prstGeom prst="rect">
            <a:avLst/>
          </a:prstGeom>
          <a:noFill/>
          <a:ln/>
        </p:spPr>
        <p:txBody>
          <a:bodyPr wrap="square" rtlCol="0" anchor="ctr"/>
          <a:lstStyle/>
          <a:p>
            <a:pPr marL="0" indent="0" algn="ctr">
              <a:buNone/>
            </a:pPr>
            <a:r>
              <a:rPr lang="en-US" sz="1600" dirty="0">
                <a:solidFill>
                  <a:srgbClr val="1F2933"/>
                </a:solidFill>
              </a:rPr>
              <a:t>Why it matters</a:t>
            </a:r>
            <a:endParaRPr lang="en-US" sz="1600" dirty="0"/>
          </a:p>
          <a:p>
            <a:pPr marL="0" indent="0" algn="ctr">
              <a:buNone/>
            </a:pPr>
            <a:endParaRPr lang="en-US" sz="1600" dirty="0"/>
          </a:p>
          <a:p>
            <a:pPr marL="0" indent="0" algn="ctr">
              <a:buNone/>
            </a:pPr>
            <a:r>
              <a:rPr lang="en-US" sz="1600" dirty="0">
                <a:solidFill>
                  <a:srgbClr val="1F2933"/>
                </a:solidFill>
              </a:rPr>
              <a:t>Bubble sort is slow for large inputs, but it is one of the clearest ways to show how sorting actually works.</a:t>
            </a:r>
            <a:endParaRPr lang="en-US" sz="1600" dirty="0"/>
          </a:p>
        </p:txBody>
      </p:sp>
      <p:sp>
        <p:nvSpPr>
          <p:cNvPr id="13" name="Text 11"/>
          <p:cNvSpPr/>
          <p:nvPr/>
        </p:nvSpPr>
        <p:spPr>
          <a:xfrm>
            <a:off x="822960" y="3703320"/>
            <a:ext cx="1371600" cy="182880"/>
          </a:xfrm>
          <a:prstGeom prst="rect">
            <a:avLst/>
          </a:prstGeom>
          <a:noFill/>
          <a:ln/>
        </p:spPr>
        <p:txBody>
          <a:bodyPr wrap="square" rtlCol="0" anchor="ctr"/>
          <a:lstStyle/>
          <a:p>
            <a:pPr marL="0" indent="0">
              <a:buNone/>
            </a:pPr>
            <a:r>
              <a:rPr lang="en-US" sz="1700" b="1" dirty="0">
                <a:solidFill>
                  <a:srgbClr val="173F5F"/>
                </a:solidFill>
              </a:rPr>
              <a:t>Strengths</a:t>
            </a:r>
            <a:endParaRPr lang="en-US" sz="1700" dirty="0"/>
          </a:p>
        </p:txBody>
      </p:sp>
      <p:sp>
        <p:nvSpPr>
          <p:cNvPr id="14" name="Text 12"/>
          <p:cNvSpPr/>
          <p:nvPr/>
        </p:nvSpPr>
        <p:spPr>
          <a:xfrm>
            <a:off x="822960" y="4023360"/>
            <a:ext cx="4389120" cy="1097280"/>
          </a:xfrm>
          <a:prstGeom prst="rect">
            <a:avLst/>
          </a:prstGeom>
          <a:noFill/>
          <a:ln/>
        </p:spPr>
        <p:txBody>
          <a:bodyPr wrap="square" rtlCol="0" anchor="ctr"/>
          <a:lstStyle/>
          <a:p>
            <a:pPr marL="177800" indent="-177800">
              <a:buSzPct val="100000"/>
              <a:buChar char="•"/>
            </a:pPr>
            <a:r>
              <a:rPr lang="en-US" sz="1500" dirty="0">
                <a:solidFill>
                  <a:srgbClr val="1F2933"/>
                </a:solidFill>
              </a:rPr>
              <a:t>Easy to explain</a:t>
            </a:r>
            <a:endParaRPr lang="en-US" sz="1500" dirty="0"/>
          </a:p>
          <a:p>
            <a:pPr marL="177800" indent="-177800">
              <a:buSzPct val="100000"/>
              <a:buChar char="•"/>
            </a:pPr>
            <a:r>
              <a:rPr lang="en-US" sz="1500" dirty="0">
                <a:solidFill>
                  <a:srgbClr val="1F2933"/>
                </a:solidFill>
              </a:rPr>
              <a:t>Easy to visualize</a:t>
            </a:r>
            <a:endParaRPr lang="en-US" sz="1500" dirty="0"/>
          </a:p>
          <a:p>
            <a:pPr marL="177800" indent="-177800">
              <a:buSzPct val="100000"/>
              <a:buChar char="•"/>
            </a:pPr>
            <a:r>
              <a:rPr lang="en-US" sz="1500" dirty="0">
                <a:solidFill>
                  <a:srgbClr val="1F2933"/>
                </a:solidFill>
              </a:rPr>
              <a:t>Good for teaching or very small lists</a:t>
            </a:r>
            <a:endParaRPr lang="en-US" sz="1500" dirty="0"/>
          </a:p>
        </p:txBody>
      </p:sp>
      <p:sp>
        <p:nvSpPr>
          <p:cNvPr id="15" name="Text 13"/>
          <p:cNvSpPr/>
          <p:nvPr/>
        </p:nvSpPr>
        <p:spPr>
          <a:xfrm>
            <a:off x="6355080" y="3703320"/>
            <a:ext cx="1645920" cy="182880"/>
          </a:xfrm>
          <a:prstGeom prst="rect">
            <a:avLst/>
          </a:prstGeom>
          <a:noFill/>
          <a:ln/>
        </p:spPr>
        <p:txBody>
          <a:bodyPr wrap="square" rtlCol="0" anchor="ctr"/>
          <a:lstStyle/>
          <a:p>
            <a:pPr marL="0" indent="0">
              <a:buNone/>
            </a:pPr>
            <a:r>
              <a:rPr lang="en-US" sz="1700" b="1" dirty="0">
                <a:solidFill>
                  <a:srgbClr val="173F5F"/>
                </a:solidFill>
              </a:rPr>
              <a:t>Limitations</a:t>
            </a:r>
            <a:endParaRPr lang="en-US" sz="1700" dirty="0"/>
          </a:p>
        </p:txBody>
      </p:sp>
      <p:sp>
        <p:nvSpPr>
          <p:cNvPr id="16" name="Text 14"/>
          <p:cNvSpPr/>
          <p:nvPr/>
        </p:nvSpPr>
        <p:spPr>
          <a:xfrm>
            <a:off x="6355080" y="4023360"/>
            <a:ext cx="4526280" cy="1097280"/>
          </a:xfrm>
          <a:prstGeom prst="rect">
            <a:avLst/>
          </a:prstGeom>
          <a:noFill/>
          <a:ln/>
        </p:spPr>
        <p:txBody>
          <a:bodyPr wrap="square" rtlCol="0" anchor="ctr"/>
          <a:lstStyle/>
          <a:p>
            <a:pPr marL="177800" indent="-177800">
              <a:buSzPct val="100000"/>
              <a:buChar char="•"/>
            </a:pPr>
            <a:r>
              <a:rPr lang="en-US" sz="1500" dirty="0">
                <a:solidFill>
                  <a:srgbClr val="1F2933"/>
                </a:solidFill>
              </a:rPr>
              <a:t>Usually O(n^2)</a:t>
            </a:r>
            <a:endParaRPr lang="en-US" sz="1500" dirty="0"/>
          </a:p>
          <a:p>
            <a:pPr marL="177800" indent="-177800">
              <a:buSzPct val="100000"/>
              <a:buChar char="•"/>
            </a:pPr>
            <a:r>
              <a:rPr lang="en-US" sz="1500" dirty="0">
                <a:solidFill>
                  <a:srgbClr val="1F2933"/>
                </a:solidFill>
              </a:rPr>
              <a:t>Poor scalability</a:t>
            </a:r>
            <a:endParaRPr lang="en-US" sz="1500" dirty="0"/>
          </a:p>
          <a:p>
            <a:pPr marL="177800" indent="-177800">
              <a:buSzPct val="100000"/>
              <a:buChar char="•"/>
            </a:pPr>
            <a:r>
              <a:rPr lang="en-US" sz="1500" dirty="0">
                <a:solidFill>
                  <a:srgbClr val="1F2933"/>
                </a:solidFill>
              </a:rPr>
              <a:t>Not a strong production choice for large lists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411480" y="128016"/>
            <a:ext cx="10241280" cy="274320"/>
          </a:xfrm>
          <a:prstGeom prst="rect">
            <a:avLst/>
          </a:prstGeom>
          <a:noFill/>
          <a:ln/>
        </p:spPr>
        <p:txBody>
          <a:bodyPr wrap="square"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Quickselect: Finding the kth Smallest Element</a:t>
            </a:r>
            <a:endParaRPr lang="en-US" sz="2400" dirty="0"/>
          </a:p>
        </p:txBody>
      </p:sp>
      <p:sp>
        <p:nvSpPr>
          <p:cNvPr id="4" name="Shape 2"/>
          <p:cNvSpPr/>
          <p:nvPr/>
        </p:nvSpPr>
        <p:spPr>
          <a:xfrm>
            <a:off x="365760" y="704088"/>
            <a:ext cx="11430000" cy="0"/>
          </a:xfrm>
          <a:prstGeom prst="line">
            <a:avLst/>
          </a:prstGeom>
          <a:noFill/>
          <a:ln w="15240">
            <a:solidFill>
              <a:srgbClr val="DCEAF7"/>
            </a:solidFill>
            <a:prstDash val="solid"/>
          </a:ln>
        </p:spPr>
        <p:txBody>
          <a:bodyPr/>
          <a:lstStyle/>
          <a:p>
            <a:endParaRPr lang="en-US"/>
          </a:p>
        </p:txBody>
      </p:sp>
      <p:sp>
        <p:nvSpPr>
          <p:cNvPr id="5" name="Text 3"/>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
        <p:nvSpPr>
          <p:cNvPr id="6" name="Text 4"/>
          <p:cNvSpPr/>
          <p:nvPr/>
        </p:nvSpPr>
        <p:spPr>
          <a:xfrm>
            <a:off x="786384" y="1060704"/>
            <a:ext cx="1097280" cy="182880"/>
          </a:xfrm>
          <a:prstGeom prst="rect">
            <a:avLst/>
          </a:prstGeom>
          <a:noFill/>
          <a:ln/>
        </p:spPr>
        <p:txBody>
          <a:bodyPr wrap="square" rtlCol="0" anchor="ctr"/>
          <a:lstStyle/>
          <a:p>
            <a:pPr marL="0" indent="0">
              <a:buNone/>
            </a:pPr>
            <a:r>
              <a:rPr lang="en-US" sz="1800" b="1" dirty="0">
                <a:solidFill>
                  <a:srgbClr val="173F5F"/>
                </a:solidFill>
              </a:rPr>
              <a:t>Problem</a:t>
            </a:r>
            <a:endParaRPr lang="en-US" sz="1800" dirty="0"/>
          </a:p>
        </p:txBody>
      </p:sp>
      <p:sp>
        <p:nvSpPr>
          <p:cNvPr id="7" name="Text 5"/>
          <p:cNvSpPr/>
          <p:nvPr/>
        </p:nvSpPr>
        <p:spPr>
          <a:xfrm>
            <a:off x="2057400" y="1060704"/>
            <a:ext cx="4892040" cy="182880"/>
          </a:xfrm>
          <a:prstGeom prst="rect">
            <a:avLst/>
          </a:prstGeom>
          <a:noFill/>
          <a:ln/>
        </p:spPr>
        <p:txBody>
          <a:bodyPr wrap="square" rtlCol="0" anchor="ctr"/>
          <a:lstStyle/>
          <a:p>
            <a:pPr marL="0" indent="0">
              <a:buNone/>
            </a:pPr>
            <a:r>
              <a:rPr lang="en-US" sz="1800" dirty="0">
                <a:solidFill>
                  <a:srgbClr val="1F2933"/>
                </a:solidFill>
              </a:rPr>
              <a:t>Find the kth smallest value without fully sorting the list.</a:t>
            </a:r>
            <a:endParaRPr lang="en-US" sz="1800" dirty="0"/>
          </a:p>
        </p:txBody>
      </p:sp>
      <p:sp>
        <p:nvSpPr>
          <p:cNvPr id="8" name="Shape 6"/>
          <p:cNvSpPr/>
          <p:nvPr/>
        </p:nvSpPr>
        <p:spPr>
          <a:xfrm>
            <a:off x="822960" y="1554480"/>
            <a:ext cx="2788920" cy="1261872"/>
          </a:xfrm>
          <a:prstGeom prst="roundRect">
            <a:avLst>
              <a:gd name="adj" fmla="val 3623"/>
            </a:avLst>
          </a:prstGeom>
          <a:solidFill>
            <a:srgbClr val="FFFFFF"/>
          </a:solidFill>
          <a:ln w="12700">
            <a:solidFill>
              <a:srgbClr val="DCEAF7"/>
            </a:solidFill>
            <a:prstDash val="solid"/>
          </a:ln>
        </p:spPr>
        <p:txBody>
          <a:bodyPr/>
          <a:lstStyle/>
          <a:p>
            <a:endParaRPr lang="en-US"/>
          </a:p>
        </p:txBody>
      </p:sp>
      <p:sp>
        <p:nvSpPr>
          <p:cNvPr id="9" name="Text 7"/>
          <p:cNvSpPr/>
          <p:nvPr/>
        </p:nvSpPr>
        <p:spPr>
          <a:xfrm>
            <a:off x="1097280" y="1828800"/>
            <a:ext cx="2194560" cy="786384"/>
          </a:xfrm>
          <a:prstGeom prst="rect">
            <a:avLst/>
          </a:prstGeom>
          <a:noFill/>
          <a:ln/>
        </p:spPr>
        <p:txBody>
          <a:bodyPr wrap="square" rtlCol="0" anchor="ctr"/>
          <a:lstStyle/>
          <a:p>
            <a:pPr marL="0" indent="0" algn="ctr">
              <a:buNone/>
            </a:pPr>
            <a:r>
              <a:rPr lang="en-US" sz="1800" dirty="0">
                <a:solidFill>
                  <a:srgbClr val="1F2933"/>
                </a:solidFill>
              </a:rPr>
              <a:t>Example</a:t>
            </a:r>
            <a:endParaRPr lang="en-US" sz="1800" dirty="0"/>
          </a:p>
          <a:p>
            <a:pPr marL="0" indent="0" algn="ctr">
              <a:buNone/>
            </a:pPr>
            <a:r>
              <a:rPr lang="en-US" sz="1800" dirty="0">
                <a:solidFill>
                  <a:srgbClr val="1F2933"/>
                </a:solidFill>
              </a:rPr>
              <a:t>List = [7, 4, 9, 2, 6]</a:t>
            </a:r>
            <a:endParaRPr lang="en-US" sz="1800" dirty="0"/>
          </a:p>
          <a:p>
            <a:pPr marL="0" indent="0" algn="ctr">
              <a:buNone/>
            </a:pPr>
            <a:r>
              <a:rPr lang="en-US" sz="1800" dirty="0">
                <a:solidFill>
                  <a:srgbClr val="1F2933"/>
                </a:solidFill>
              </a:rPr>
              <a:t>k = 3</a:t>
            </a:r>
            <a:endParaRPr lang="en-US" sz="1800" dirty="0"/>
          </a:p>
          <a:p>
            <a:pPr marL="0" indent="0" algn="ctr">
              <a:buNone/>
            </a:pPr>
            <a:r>
              <a:rPr lang="en-US" sz="1800" dirty="0">
                <a:solidFill>
                  <a:srgbClr val="1F2933"/>
                </a:solidFill>
              </a:rPr>
              <a:t>Result = 6</a:t>
            </a:r>
            <a:endParaRPr lang="en-US" sz="1800" dirty="0"/>
          </a:p>
        </p:txBody>
      </p:sp>
      <p:sp>
        <p:nvSpPr>
          <p:cNvPr id="10" name="Text 8"/>
          <p:cNvSpPr/>
          <p:nvPr/>
        </p:nvSpPr>
        <p:spPr>
          <a:xfrm>
            <a:off x="4069080" y="1371600"/>
            <a:ext cx="2103120" cy="182880"/>
          </a:xfrm>
          <a:prstGeom prst="rect">
            <a:avLst/>
          </a:prstGeom>
          <a:noFill/>
          <a:ln/>
        </p:spPr>
        <p:txBody>
          <a:bodyPr wrap="square" rtlCol="0" anchor="ctr"/>
          <a:lstStyle/>
          <a:p>
            <a:pPr marL="0" indent="0">
              <a:buNone/>
            </a:pPr>
            <a:r>
              <a:rPr lang="en-US" sz="1800" b="1" dirty="0">
                <a:solidFill>
                  <a:srgbClr val="173F5F"/>
                </a:solidFill>
              </a:rPr>
              <a:t>How it works</a:t>
            </a:r>
            <a:endParaRPr lang="en-US" sz="1800" dirty="0"/>
          </a:p>
        </p:txBody>
      </p:sp>
      <p:sp>
        <p:nvSpPr>
          <p:cNvPr id="11" name="Text 9"/>
          <p:cNvSpPr/>
          <p:nvPr/>
        </p:nvSpPr>
        <p:spPr>
          <a:xfrm>
            <a:off x="4069080" y="1737360"/>
            <a:ext cx="4069080" cy="1600200"/>
          </a:xfrm>
          <a:prstGeom prst="rect">
            <a:avLst/>
          </a:prstGeom>
          <a:noFill/>
          <a:ln/>
        </p:spPr>
        <p:txBody>
          <a:bodyPr wrap="square" rtlCol="0" anchor="ctr"/>
          <a:lstStyle/>
          <a:p>
            <a:pPr marL="177800" indent="-177800">
              <a:buSzPct val="100000"/>
              <a:buChar char="•"/>
            </a:pPr>
            <a:r>
              <a:rPr lang="en-US" sz="1600" dirty="0">
                <a:solidFill>
                  <a:srgbClr val="1F2933"/>
                </a:solidFill>
              </a:rPr>
              <a:t>Choose a pivot</a:t>
            </a:r>
            <a:endParaRPr lang="en-US" sz="1600" dirty="0"/>
          </a:p>
          <a:p>
            <a:pPr marL="177800" indent="-177800">
              <a:buSzPct val="100000"/>
              <a:buChar char="•"/>
            </a:pPr>
            <a:r>
              <a:rPr lang="en-US" sz="1600" dirty="0">
                <a:solidFill>
                  <a:srgbClr val="1F2933"/>
                </a:solidFill>
              </a:rPr>
              <a:t>Partition around the pivot</a:t>
            </a:r>
            <a:endParaRPr lang="en-US" sz="1600" dirty="0"/>
          </a:p>
          <a:p>
            <a:pPr marL="177800" indent="-177800">
              <a:buSzPct val="100000"/>
              <a:buChar char="•"/>
            </a:pPr>
            <a:r>
              <a:rPr lang="en-US" sz="1600" dirty="0">
                <a:solidFill>
                  <a:srgbClr val="1F2933"/>
                </a:solidFill>
              </a:rPr>
              <a:t>Continue only on the side that contains the target rank</a:t>
            </a:r>
            <a:endParaRPr lang="en-US" sz="1600" dirty="0"/>
          </a:p>
        </p:txBody>
      </p:sp>
      <p:sp>
        <p:nvSpPr>
          <p:cNvPr id="12" name="Shape 10"/>
          <p:cNvSpPr/>
          <p:nvPr/>
        </p:nvSpPr>
        <p:spPr>
          <a:xfrm>
            <a:off x="8366760" y="1572768"/>
            <a:ext cx="2743200" cy="1645920"/>
          </a:xfrm>
          <a:prstGeom prst="roundRect">
            <a:avLst>
              <a:gd name="adj" fmla="val 2778"/>
            </a:avLst>
          </a:prstGeom>
          <a:solidFill>
            <a:srgbClr val="DCEAF7"/>
          </a:solidFill>
          <a:ln w="13970">
            <a:solidFill>
              <a:srgbClr val="3CAEA3"/>
            </a:solidFill>
            <a:prstDash val="solid"/>
          </a:ln>
        </p:spPr>
        <p:txBody>
          <a:bodyPr/>
          <a:lstStyle/>
          <a:p>
            <a:endParaRPr lang="en-US"/>
          </a:p>
        </p:txBody>
      </p:sp>
      <p:sp>
        <p:nvSpPr>
          <p:cNvPr id="13" name="Text 11"/>
          <p:cNvSpPr/>
          <p:nvPr/>
        </p:nvSpPr>
        <p:spPr>
          <a:xfrm>
            <a:off x="8641080" y="1883664"/>
            <a:ext cx="2194560" cy="987552"/>
          </a:xfrm>
          <a:prstGeom prst="rect">
            <a:avLst/>
          </a:prstGeom>
          <a:noFill/>
          <a:ln/>
        </p:spPr>
        <p:txBody>
          <a:bodyPr wrap="square" rtlCol="0" anchor="ctr"/>
          <a:lstStyle/>
          <a:p>
            <a:pPr marL="0" indent="0" algn="ctr">
              <a:buNone/>
            </a:pPr>
            <a:r>
              <a:rPr lang="en-US" sz="1600" dirty="0">
                <a:solidFill>
                  <a:srgbClr val="1F2933"/>
                </a:solidFill>
              </a:rPr>
              <a:t>Key advantage</a:t>
            </a:r>
            <a:endParaRPr lang="en-US" sz="1600" dirty="0"/>
          </a:p>
          <a:p>
            <a:pPr marL="0" indent="0" algn="ctr">
              <a:buNone/>
            </a:pPr>
            <a:endParaRPr lang="en-US" sz="1600" dirty="0"/>
          </a:p>
          <a:p>
            <a:pPr marL="0" indent="0" algn="ctr">
              <a:buNone/>
            </a:pPr>
            <a:r>
              <a:rPr lang="en-US" sz="1600" dirty="0">
                <a:solidFill>
                  <a:srgbClr val="1F2933"/>
                </a:solidFill>
              </a:rPr>
              <a:t>It avoids a full sort when the goal is only one ranked result.</a:t>
            </a:r>
            <a:endParaRPr lang="en-US" sz="1600" dirty="0"/>
          </a:p>
        </p:txBody>
      </p:sp>
      <p:sp>
        <p:nvSpPr>
          <p:cNvPr id="14" name="Text 12"/>
          <p:cNvSpPr/>
          <p:nvPr/>
        </p:nvSpPr>
        <p:spPr>
          <a:xfrm>
            <a:off x="822960" y="3822192"/>
            <a:ext cx="2240280" cy="182880"/>
          </a:xfrm>
          <a:prstGeom prst="rect">
            <a:avLst/>
          </a:prstGeom>
          <a:noFill/>
          <a:ln/>
        </p:spPr>
        <p:txBody>
          <a:bodyPr wrap="square" rtlCol="0" anchor="ctr"/>
          <a:lstStyle/>
          <a:p>
            <a:pPr marL="0" indent="0">
              <a:buNone/>
            </a:pPr>
            <a:r>
              <a:rPr lang="en-US" sz="1700" b="1" dirty="0">
                <a:solidFill>
                  <a:srgbClr val="173F5F"/>
                </a:solidFill>
              </a:rPr>
              <a:t>Performance takeaway</a:t>
            </a:r>
            <a:endParaRPr lang="en-US" sz="1700" dirty="0"/>
          </a:p>
        </p:txBody>
      </p:sp>
      <p:sp>
        <p:nvSpPr>
          <p:cNvPr id="15" name="Text 13"/>
          <p:cNvSpPr/>
          <p:nvPr/>
        </p:nvSpPr>
        <p:spPr>
          <a:xfrm>
            <a:off x="822960" y="4151376"/>
            <a:ext cx="10332720" cy="502920"/>
          </a:xfrm>
          <a:prstGeom prst="rect">
            <a:avLst/>
          </a:prstGeom>
          <a:noFill/>
          <a:ln/>
        </p:spPr>
        <p:txBody>
          <a:bodyPr wrap="square" rtlCol="0" anchor="ctr"/>
          <a:lstStyle/>
          <a:p>
            <a:pPr marL="0" indent="0">
              <a:buNone/>
            </a:pPr>
            <a:r>
              <a:rPr lang="en-US" sz="1600" dirty="0">
                <a:solidFill>
                  <a:srgbClr val="1F2933"/>
                </a:solidFill>
              </a:rPr>
              <a:t>Quickselect is usually more efficient than sorting the entire list first when the only requirement is to return one ranked value, such as the median or the fifth smallest element.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411480" y="128016"/>
            <a:ext cx="10241280" cy="274320"/>
          </a:xfrm>
          <a:prstGeom prst="rect">
            <a:avLst/>
          </a:prstGeom>
          <a:noFill/>
          <a:ln/>
        </p:spPr>
        <p:txBody>
          <a:bodyPr wrap="square"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Set Operations and Why They Matter</a:t>
            </a:r>
            <a:endParaRPr lang="en-US" sz="2400" dirty="0"/>
          </a:p>
        </p:txBody>
      </p:sp>
      <p:sp>
        <p:nvSpPr>
          <p:cNvPr id="4" name="Shape 2"/>
          <p:cNvSpPr/>
          <p:nvPr/>
        </p:nvSpPr>
        <p:spPr>
          <a:xfrm>
            <a:off x="365760" y="704088"/>
            <a:ext cx="11430000" cy="0"/>
          </a:xfrm>
          <a:prstGeom prst="line">
            <a:avLst/>
          </a:prstGeom>
          <a:noFill/>
          <a:ln w="15240">
            <a:solidFill>
              <a:srgbClr val="DCEAF7"/>
            </a:solidFill>
            <a:prstDash val="solid"/>
          </a:ln>
        </p:spPr>
        <p:txBody>
          <a:bodyPr/>
          <a:lstStyle/>
          <a:p>
            <a:endParaRPr lang="en-US"/>
          </a:p>
        </p:txBody>
      </p:sp>
      <p:sp>
        <p:nvSpPr>
          <p:cNvPr id="5" name="Text 3"/>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
        <p:nvSpPr>
          <p:cNvPr id="6" name="Shape 4"/>
          <p:cNvSpPr/>
          <p:nvPr/>
        </p:nvSpPr>
        <p:spPr>
          <a:xfrm>
            <a:off x="786384" y="1325880"/>
            <a:ext cx="4572000" cy="1234440"/>
          </a:xfrm>
          <a:prstGeom prst="roundRect">
            <a:avLst>
              <a:gd name="adj" fmla="val 3704"/>
            </a:avLst>
          </a:prstGeom>
          <a:solidFill>
            <a:srgbClr val="FFFFFF"/>
          </a:solidFill>
          <a:ln w="12700">
            <a:solidFill>
              <a:srgbClr val="DCEAF7"/>
            </a:solidFill>
            <a:prstDash val="solid"/>
          </a:ln>
        </p:spPr>
        <p:txBody>
          <a:bodyPr/>
          <a:lstStyle/>
          <a:p>
            <a:endParaRPr lang="en-US"/>
          </a:p>
        </p:txBody>
      </p:sp>
      <p:sp>
        <p:nvSpPr>
          <p:cNvPr id="7" name="Text 5"/>
          <p:cNvSpPr/>
          <p:nvPr/>
        </p:nvSpPr>
        <p:spPr>
          <a:xfrm>
            <a:off x="987552" y="1490472"/>
            <a:ext cx="1828800" cy="201168"/>
          </a:xfrm>
          <a:prstGeom prst="rect">
            <a:avLst/>
          </a:prstGeom>
          <a:noFill/>
          <a:ln/>
        </p:spPr>
        <p:txBody>
          <a:bodyPr wrap="square" rtlCol="0" anchor="ctr"/>
          <a:lstStyle/>
          <a:p>
            <a:pPr marL="0" indent="0">
              <a:buNone/>
            </a:pPr>
            <a:r>
              <a:rPr lang="en-US" sz="1800" b="1" dirty="0">
                <a:solidFill>
                  <a:srgbClr val="173F5F"/>
                </a:solidFill>
              </a:rPr>
              <a:t>Union</a:t>
            </a:r>
            <a:endParaRPr lang="en-US" sz="1800" dirty="0"/>
          </a:p>
        </p:txBody>
      </p:sp>
      <p:sp>
        <p:nvSpPr>
          <p:cNvPr id="8" name="Text 6"/>
          <p:cNvSpPr/>
          <p:nvPr/>
        </p:nvSpPr>
        <p:spPr>
          <a:xfrm>
            <a:off x="987552" y="1856232"/>
            <a:ext cx="3977640" cy="320040"/>
          </a:xfrm>
          <a:prstGeom prst="rect">
            <a:avLst/>
          </a:prstGeom>
          <a:noFill/>
          <a:ln/>
        </p:spPr>
        <p:txBody>
          <a:bodyPr wrap="square" rtlCol="0" anchor="ctr"/>
          <a:lstStyle/>
          <a:p>
            <a:pPr marL="0" indent="0">
              <a:buNone/>
            </a:pPr>
            <a:r>
              <a:rPr lang="en-US" sz="1500" dirty="0">
                <a:solidFill>
                  <a:srgbClr val="1F2933"/>
                </a:solidFill>
              </a:rPr>
              <a:t>All unique values from both sets</a:t>
            </a:r>
            <a:endParaRPr lang="en-US" sz="1500" dirty="0"/>
          </a:p>
        </p:txBody>
      </p:sp>
      <p:sp>
        <p:nvSpPr>
          <p:cNvPr id="9" name="Shape 7"/>
          <p:cNvSpPr/>
          <p:nvPr/>
        </p:nvSpPr>
        <p:spPr>
          <a:xfrm>
            <a:off x="6172200" y="1325880"/>
            <a:ext cx="4572000" cy="1234440"/>
          </a:xfrm>
          <a:prstGeom prst="roundRect">
            <a:avLst>
              <a:gd name="adj" fmla="val 3704"/>
            </a:avLst>
          </a:prstGeom>
          <a:solidFill>
            <a:srgbClr val="FFFFFF"/>
          </a:solidFill>
          <a:ln w="12700">
            <a:solidFill>
              <a:srgbClr val="DCEAF7"/>
            </a:solidFill>
            <a:prstDash val="solid"/>
          </a:ln>
        </p:spPr>
        <p:txBody>
          <a:bodyPr/>
          <a:lstStyle/>
          <a:p>
            <a:endParaRPr lang="en-US"/>
          </a:p>
        </p:txBody>
      </p:sp>
      <p:sp>
        <p:nvSpPr>
          <p:cNvPr id="10" name="Text 8"/>
          <p:cNvSpPr/>
          <p:nvPr/>
        </p:nvSpPr>
        <p:spPr>
          <a:xfrm>
            <a:off x="6373368" y="1490472"/>
            <a:ext cx="1828800" cy="201168"/>
          </a:xfrm>
          <a:prstGeom prst="rect">
            <a:avLst/>
          </a:prstGeom>
          <a:noFill/>
          <a:ln/>
        </p:spPr>
        <p:txBody>
          <a:bodyPr wrap="square" rtlCol="0" anchor="ctr"/>
          <a:lstStyle/>
          <a:p>
            <a:pPr marL="0" indent="0">
              <a:buNone/>
            </a:pPr>
            <a:r>
              <a:rPr lang="en-US" sz="1800" b="1" dirty="0">
                <a:solidFill>
                  <a:srgbClr val="173F5F"/>
                </a:solidFill>
              </a:rPr>
              <a:t>Intersection</a:t>
            </a:r>
            <a:endParaRPr lang="en-US" sz="1800" dirty="0"/>
          </a:p>
        </p:txBody>
      </p:sp>
      <p:sp>
        <p:nvSpPr>
          <p:cNvPr id="11" name="Text 9"/>
          <p:cNvSpPr/>
          <p:nvPr/>
        </p:nvSpPr>
        <p:spPr>
          <a:xfrm>
            <a:off x="6373368" y="1856232"/>
            <a:ext cx="3977640" cy="320040"/>
          </a:xfrm>
          <a:prstGeom prst="rect">
            <a:avLst/>
          </a:prstGeom>
          <a:noFill/>
          <a:ln/>
        </p:spPr>
        <p:txBody>
          <a:bodyPr wrap="square" rtlCol="0" anchor="ctr"/>
          <a:lstStyle/>
          <a:p>
            <a:pPr marL="0" indent="0">
              <a:buNone/>
            </a:pPr>
            <a:r>
              <a:rPr lang="en-US" sz="1500" dirty="0">
                <a:solidFill>
                  <a:srgbClr val="1F2933"/>
                </a:solidFill>
              </a:rPr>
              <a:t>Only the values both sets share</a:t>
            </a:r>
            <a:endParaRPr lang="en-US" sz="1500" dirty="0"/>
          </a:p>
        </p:txBody>
      </p:sp>
      <p:sp>
        <p:nvSpPr>
          <p:cNvPr id="12" name="Shape 10"/>
          <p:cNvSpPr/>
          <p:nvPr/>
        </p:nvSpPr>
        <p:spPr>
          <a:xfrm>
            <a:off x="786384" y="3081528"/>
            <a:ext cx="4572000" cy="1234440"/>
          </a:xfrm>
          <a:prstGeom prst="roundRect">
            <a:avLst>
              <a:gd name="adj" fmla="val 3704"/>
            </a:avLst>
          </a:prstGeom>
          <a:solidFill>
            <a:srgbClr val="FFFFFF"/>
          </a:solidFill>
          <a:ln w="12700">
            <a:solidFill>
              <a:srgbClr val="DCEAF7"/>
            </a:solidFill>
            <a:prstDash val="solid"/>
          </a:ln>
        </p:spPr>
        <p:txBody>
          <a:bodyPr/>
          <a:lstStyle/>
          <a:p>
            <a:endParaRPr lang="en-US"/>
          </a:p>
        </p:txBody>
      </p:sp>
      <p:sp>
        <p:nvSpPr>
          <p:cNvPr id="13" name="Text 11"/>
          <p:cNvSpPr/>
          <p:nvPr/>
        </p:nvSpPr>
        <p:spPr>
          <a:xfrm>
            <a:off x="987552" y="3246120"/>
            <a:ext cx="1828800" cy="201168"/>
          </a:xfrm>
          <a:prstGeom prst="rect">
            <a:avLst/>
          </a:prstGeom>
          <a:noFill/>
          <a:ln/>
        </p:spPr>
        <p:txBody>
          <a:bodyPr wrap="square" rtlCol="0" anchor="ctr"/>
          <a:lstStyle/>
          <a:p>
            <a:pPr marL="0" indent="0">
              <a:buNone/>
            </a:pPr>
            <a:r>
              <a:rPr lang="en-US" sz="1800" b="1" dirty="0">
                <a:solidFill>
                  <a:srgbClr val="173F5F"/>
                </a:solidFill>
              </a:rPr>
              <a:t>Difference</a:t>
            </a:r>
            <a:endParaRPr lang="en-US" sz="1800" dirty="0"/>
          </a:p>
        </p:txBody>
      </p:sp>
      <p:sp>
        <p:nvSpPr>
          <p:cNvPr id="14" name="Text 12"/>
          <p:cNvSpPr/>
          <p:nvPr/>
        </p:nvSpPr>
        <p:spPr>
          <a:xfrm>
            <a:off x="987552" y="3611880"/>
            <a:ext cx="3977640" cy="320040"/>
          </a:xfrm>
          <a:prstGeom prst="rect">
            <a:avLst/>
          </a:prstGeom>
          <a:noFill/>
          <a:ln/>
        </p:spPr>
        <p:txBody>
          <a:bodyPr wrap="square" rtlCol="0" anchor="ctr"/>
          <a:lstStyle/>
          <a:p>
            <a:pPr marL="0" indent="0">
              <a:buNone/>
            </a:pPr>
            <a:r>
              <a:rPr lang="en-US" sz="1500" dirty="0">
                <a:solidFill>
                  <a:srgbClr val="1F2933"/>
                </a:solidFill>
              </a:rPr>
              <a:t>Values in one set but not the other</a:t>
            </a:r>
            <a:endParaRPr lang="en-US" sz="1500" dirty="0"/>
          </a:p>
        </p:txBody>
      </p:sp>
      <p:sp>
        <p:nvSpPr>
          <p:cNvPr id="15" name="Shape 13"/>
          <p:cNvSpPr/>
          <p:nvPr/>
        </p:nvSpPr>
        <p:spPr>
          <a:xfrm>
            <a:off x="6172200" y="3081528"/>
            <a:ext cx="4572000" cy="1234440"/>
          </a:xfrm>
          <a:prstGeom prst="roundRect">
            <a:avLst>
              <a:gd name="adj" fmla="val 3704"/>
            </a:avLst>
          </a:prstGeom>
          <a:solidFill>
            <a:srgbClr val="FFFFFF"/>
          </a:solidFill>
          <a:ln w="12700">
            <a:solidFill>
              <a:srgbClr val="DCEAF7"/>
            </a:solidFill>
            <a:prstDash val="solid"/>
          </a:ln>
        </p:spPr>
        <p:txBody>
          <a:bodyPr/>
          <a:lstStyle/>
          <a:p>
            <a:endParaRPr lang="en-US"/>
          </a:p>
        </p:txBody>
      </p:sp>
      <p:sp>
        <p:nvSpPr>
          <p:cNvPr id="16" name="Text 14"/>
          <p:cNvSpPr/>
          <p:nvPr/>
        </p:nvSpPr>
        <p:spPr>
          <a:xfrm>
            <a:off x="6373368" y="3246120"/>
            <a:ext cx="1828800" cy="201168"/>
          </a:xfrm>
          <a:prstGeom prst="rect">
            <a:avLst/>
          </a:prstGeom>
          <a:noFill/>
          <a:ln/>
        </p:spPr>
        <p:txBody>
          <a:bodyPr wrap="square" rtlCol="0" anchor="ctr"/>
          <a:lstStyle/>
          <a:p>
            <a:pPr marL="0" indent="0">
              <a:buNone/>
            </a:pPr>
            <a:r>
              <a:rPr lang="en-US" sz="1800" b="1" dirty="0">
                <a:solidFill>
                  <a:srgbClr val="173F5F"/>
                </a:solidFill>
              </a:rPr>
              <a:t>Symmetric difference</a:t>
            </a:r>
            <a:endParaRPr lang="en-US" sz="1800" dirty="0"/>
          </a:p>
        </p:txBody>
      </p:sp>
      <p:sp>
        <p:nvSpPr>
          <p:cNvPr id="17" name="Text 15"/>
          <p:cNvSpPr/>
          <p:nvPr/>
        </p:nvSpPr>
        <p:spPr>
          <a:xfrm>
            <a:off x="6373368" y="3611880"/>
            <a:ext cx="3977640" cy="320040"/>
          </a:xfrm>
          <a:prstGeom prst="rect">
            <a:avLst/>
          </a:prstGeom>
          <a:noFill/>
          <a:ln/>
        </p:spPr>
        <p:txBody>
          <a:bodyPr wrap="square" rtlCol="0" anchor="ctr"/>
          <a:lstStyle/>
          <a:p>
            <a:pPr marL="0" indent="0">
              <a:buNone/>
            </a:pPr>
            <a:r>
              <a:rPr lang="en-US" sz="1500" dirty="0">
                <a:solidFill>
                  <a:srgbClr val="1F2933"/>
                </a:solidFill>
              </a:rPr>
              <a:t>Values in either set, but not both</a:t>
            </a:r>
            <a:endParaRPr lang="en-US" sz="1500" dirty="0"/>
          </a:p>
        </p:txBody>
      </p:sp>
      <p:sp>
        <p:nvSpPr>
          <p:cNvPr id="18" name="Text 16"/>
          <p:cNvSpPr/>
          <p:nvPr/>
        </p:nvSpPr>
        <p:spPr>
          <a:xfrm>
            <a:off x="822960" y="4864608"/>
            <a:ext cx="2377440" cy="182880"/>
          </a:xfrm>
          <a:prstGeom prst="rect">
            <a:avLst/>
          </a:prstGeom>
          <a:noFill/>
          <a:ln/>
        </p:spPr>
        <p:txBody>
          <a:bodyPr wrap="square" rtlCol="0" anchor="ctr"/>
          <a:lstStyle/>
          <a:p>
            <a:pPr marL="0" indent="0">
              <a:buNone/>
            </a:pPr>
            <a:r>
              <a:rPr lang="en-US" sz="1700" b="1" dirty="0">
                <a:solidFill>
                  <a:srgbClr val="173F5F"/>
                </a:solidFill>
              </a:rPr>
              <a:t>Static vs dynamic use</a:t>
            </a:r>
            <a:endParaRPr lang="en-US" sz="1700" dirty="0"/>
          </a:p>
        </p:txBody>
      </p:sp>
      <p:sp>
        <p:nvSpPr>
          <p:cNvPr id="19" name="Text 17"/>
          <p:cNvSpPr/>
          <p:nvPr/>
        </p:nvSpPr>
        <p:spPr>
          <a:xfrm>
            <a:off x="822960" y="5157216"/>
            <a:ext cx="10241280" cy="457200"/>
          </a:xfrm>
          <a:prstGeom prst="rect">
            <a:avLst/>
          </a:prstGeom>
          <a:noFill/>
          <a:ln/>
        </p:spPr>
        <p:txBody>
          <a:bodyPr wrap="square" rtlCol="0" anchor="ctr"/>
          <a:lstStyle/>
          <a:p>
            <a:pPr marL="0" indent="0">
              <a:buNone/>
            </a:pPr>
            <a:r>
              <a:rPr lang="en-US" sz="1600" dirty="0">
                <a:solidFill>
                  <a:srgbClr val="1F2933"/>
                </a:solidFill>
              </a:rPr>
              <a:t>Static set work fits one-time comparison of stable collections. Dynamic set work matters more when values are being added, removed, or checked repeatedly over time.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411480" y="128016"/>
            <a:ext cx="10241280" cy="274320"/>
          </a:xfrm>
          <a:prstGeom prst="rect">
            <a:avLst/>
          </a:prstGeom>
          <a:noFill/>
          <a:ln/>
        </p:spPr>
        <p:txBody>
          <a:bodyPr wrap="square"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Integrated Data Structures</a:t>
            </a:r>
            <a:endParaRPr lang="en-US" sz="2400" dirty="0"/>
          </a:p>
        </p:txBody>
      </p:sp>
      <p:sp>
        <p:nvSpPr>
          <p:cNvPr id="4" name="Shape 2"/>
          <p:cNvSpPr/>
          <p:nvPr/>
        </p:nvSpPr>
        <p:spPr>
          <a:xfrm>
            <a:off x="365760" y="704088"/>
            <a:ext cx="11430000" cy="0"/>
          </a:xfrm>
          <a:prstGeom prst="line">
            <a:avLst/>
          </a:prstGeom>
          <a:noFill/>
          <a:ln w="15240">
            <a:solidFill>
              <a:srgbClr val="DCEAF7"/>
            </a:solidFill>
            <a:prstDash val="solid"/>
          </a:ln>
        </p:spPr>
        <p:txBody>
          <a:bodyPr/>
          <a:lstStyle/>
          <a:p>
            <a:endParaRPr lang="en-US"/>
          </a:p>
        </p:txBody>
      </p:sp>
      <p:sp>
        <p:nvSpPr>
          <p:cNvPr id="5" name="Text 3"/>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
        <p:nvSpPr>
          <p:cNvPr id="6" name="Shape 4"/>
          <p:cNvSpPr/>
          <p:nvPr/>
        </p:nvSpPr>
        <p:spPr>
          <a:xfrm>
            <a:off x="731520" y="1234440"/>
            <a:ext cx="2423160" cy="1444752"/>
          </a:xfrm>
          <a:prstGeom prst="roundRect">
            <a:avLst>
              <a:gd name="adj" fmla="val 3165"/>
            </a:avLst>
          </a:prstGeom>
          <a:solidFill>
            <a:srgbClr val="FFFFFF"/>
          </a:solidFill>
          <a:ln w="13970">
            <a:solidFill>
              <a:srgbClr val="DCEAF7"/>
            </a:solidFill>
            <a:prstDash val="solid"/>
          </a:ln>
        </p:spPr>
        <p:txBody>
          <a:bodyPr/>
          <a:lstStyle/>
          <a:p>
            <a:endParaRPr lang="en-US"/>
          </a:p>
        </p:txBody>
      </p:sp>
      <p:sp>
        <p:nvSpPr>
          <p:cNvPr id="7" name="Text 5"/>
          <p:cNvSpPr/>
          <p:nvPr/>
        </p:nvSpPr>
        <p:spPr>
          <a:xfrm>
            <a:off x="841248" y="1399032"/>
            <a:ext cx="2194560" cy="201168"/>
          </a:xfrm>
          <a:prstGeom prst="rect">
            <a:avLst/>
          </a:prstGeom>
          <a:noFill/>
          <a:ln/>
        </p:spPr>
        <p:txBody>
          <a:bodyPr wrap="square" rtlCol="0" anchor="ctr"/>
          <a:lstStyle/>
          <a:p>
            <a:pPr marL="0" indent="0" algn="ctr">
              <a:buNone/>
            </a:pPr>
            <a:r>
              <a:rPr lang="en-US" sz="1700" b="1" dirty="0">
                <a:solidFill>
                  <a:srgbClr val="173F5F"/>
                </a:solidFill>
              </a:rPr>
              <a:t>Stack</a:t>
            </a:r>
            <a:endParaRPr lang="en-US" sz="1700" dirty="0"/>
          </a:p>
        </p:txBody>
      </p:sp>
      <p:sp>
        <p:nvSpPr>
          <p:cNvPr id="8" name="Text 6"/>
          <p:cNvSpPr/>
          <p:nvPr/>
        </p:nvSpPr>
        <p:spPr>
          <a:xfrm>
            <a:off x="841248" y="1755648"/>
            <a:ext cx="2194560" cy="164592"/>
          </a:xfrm>
          <a:prstGeom prst="rect">
            <a:avLst/>
          </a:prstGeom>
          <a:noFill/>
          <a:ln/>
        </p:spPr>
        <p:txBody>
          <a:bodyPr wrap="square" rtlCol="0" anchor="ctr"/>
          <a:lstStyle/>
          <a:p>
            <a:pPr marL="0" indent="0" algn="ctr">
              <a:buNone/>
            </a:pPr>
            <a:r>
              <a:rPr lang="en-US" sz="1400" dirty="0">
                <a:solidFill>
                  <a:srgbClr val="20639B"/>
                </a:solidFill>
              </a:rPr>
              <a:t>Last-in, first-out</a:t>
            </a:r>
            <a:endParaRPr lang="en-US" sz="1400" dirty="0"/>
          </a:p>
        </p:txBody>
      </p:sp>
      <p:sp>
        <p:nvSpPr>
          <p:cNvPr id="9" name="Text 7"/>
          <p:cNvSpPr/>
          <p:nvPr/>
        </p:nvSpPr>
        <p:spPr>
          <a:xfrm>
            <a:off x="841248" y="2093976"/>
            <a:ext cx="2194560" cy="256032"/>
          </a:xfrm>
          <a:prstGeom prst="rect">
            <a:avLst/>
          </a:prstGeom>
          <a:noFill/>
          <a:ln/>
        </p:spPr>
        <p:txBody>
          <a:bodyPr wrap="square" rtlCol="0" anchor="ctr"/>
          <a:lstStyle/>
          <a:p>
            <a:pPr marL="0" indent="0" algn="ctr">
              <a:buNone/>
            </a:pPr>
            <a:r>
              <a:rPr lang="en-US" sz="1250" dirty="0">
                <a:solidFill>
                  <a:srgbClr val="1F2933"/>
                </a:solidFill>
              </a:rPr>
              <a:t>Undo actions and nested processes</a:t>
            </a:r>
            <a:endParaRPr lang="en-US" sz="1250" dirty="0"/>
          </a:p>
        </p:txBody>
      </p:sp>
      <p:sp>
        <p:nvSpPr>
          <p:cNvPr id="10" name="Shape 8"/>
          <p:cNvSpPr/>
          <p:nvPr/>
        </p:nvSpPr>
        <p:spPr>
          <a:xfrm>
            <a:off x="3977640" y="1234440"/>
            <a:ext cx="2423160" cy="1444752"/>
          </a:xfrm>
          <a:prstGeom prst="roundRect">
            <a:avLst>
              <a:gd name="adj" fmla="val 3165"/>
            </a:avLst>
          </a:prstGeom>
          <a:solidFill>
            <a:srgbClr val="FFFFFF"/>
          </a:solidFill>
          <a:ln w="13970">
            <a:solidFill>
              <a:srgbClr val="DCEAF7"/>
            </a:solidFill>
            <a:prstDash val="solid"/>
          </a:ln>
        </p:spPr>
        <p:txBody>
          <a:bodyPr/>
          <a:lstStyle/>
          <a:p>
            <a:endParaRPr lang="en-US"/>
          </a:p>
        </p:txBody>
      </p:sp>
      <p:sp>
        <p:nvSpPr>
          <p:cNvPr id="11" name="Text 9"/>
          <p:cNvSpPr/>
          <p:nvPr/>
        </p:nvSpPr>
        <p:spPr>
          <a:xfrm>
            <a:off x="4087368" y="1399032"/>
            <a:ext cx="2194560" cy="201168"/>
          </a:xfrm>
          <a:prstGeom prst="rect">
            <a:avLst/>
          </a:prstGeom>
          <a:noFill/>
          <a:ln/>
        </p:spPr>
        <p:txBody>
          <a:bodyPr wrap="square" rtlCol="0" anchor="ctr"/>
          <a:lstStyle/>
          <a:p>
            <a:pPr marL="0" indent="0" algn="ctr">
              <a:buNone/>
            </a:pPr>
            <a:r>
              <a:rPr lang="en-US" sz="1700" b="1" dirty="0">
                <a:solidFill>
                  <a:srgbClr val="173F5F"/>
                </a:solidFill>
              </a:rPr>
              <a:t>Queue</a:t>
            </a:r>
            <a:endParaRPr lang="en-US" sz="1700" dirty="0"/>
          </a:p>
        </p:txBody>
      </p:sp>
      <p:sp>
        <p:nvSpPr>
          <p:cNvPr id="12" name="Text 10"/>
          <p:cNvSpPr/>
          <p:nvPr/>
        </p:nvSpPr>
        <p:spPr>
          <a:xfrm>
            <a:off x="4087368" y="1755648"/>
            <a:ext cx="2194560" cy="164592"/>
          </a:xfrm>
          <a:prstGeom prst="rect">
            <a:avLst/>
          </a:prstGeom>
          <a:noFill/>
          <a:ln/>
        </p:spPr>
        <p:txBody>
          <a:bodyPr wrap="square" rtlCol="0" anchor="ctr"/>
          <a:lstStyle/>
          <a:p>
            <a:pPr marL="0" indent="0" algn="ctr">
              <a:buNone/>
            </a:pPr>
            <a:r>
              <a:rPr lang="en-US" sz="1400" dirty="0">
                <a:solidFill>
                  <a:srgbClr val="20639B"/>
                </a:solidFill>
              </a:rPr>
              <a:t>First-in, first-out</a:t>
            </a:r>
            <a:endParaRPr lang="en-US" sz="1400" dirty="0"/>
          </a:p>
        </p:txBody>
      </p:sp>
      <p:sp>
        <p:nvSpPr>
          <p:cNvPr id="13" name="Text 11"/>
          <p:cNvSpPr/>
          <p:nvPr/>
        </p:nvSpPr>
        <p:spPr>
          <a:xfrm>
            <a:off x="4087368" y="2093976"/>
            <a:ext cx="2194560" cy="256032"/>
          </a:xfrm>
          <a:prstGeom prst="rect">
            <a:avLst/>
          </a:prstGeom>
          <a:noFill/>
          <a:ln/>
        </p:spPr>
        <p:txBody>
          <a:bodyPr wrap="square" rtlCol="0" anchor="ctr"/>
          <a:lstStyle/>
          <a:p>
            <a:pPr marL="0" indent="0" algn="ctr">
              <a:buNone/>
            </a:pPr>
            <a:r>
              <a:rPr lang="en-US" sz="1250" dirty="0">
                <a:solidFill>
                  <a:srgbClr val="1F2933"/>
                </a:solidFill>
              </a:rPr>
              <a:t>Scheduling and service order</a:t>
            </a:r>
            <a:endParaRPr lang="en-US" sz="1250" dirty="0"/>
          </a:p>
        </p:txBody>
      </p:sp>
      <p:sp>
        <p:nvSpPr>
          <p:cNvPr id="14" name="Shape 12"/>
          <p:cNvSpPr/>
          <p:nvPr/>
        </p:nvSpPr>
        <p:spPr>
          <a:xfrm>
            <a:off x="7223760" y="1234440"/>
            <a:ext cx="2423160" cy="1444752"/>
          </a:xfrm>
          <a:prstGeom prst="roundRect">
            <a:avLst>
              <a:gd name="adj" fmla="val 3165"/>
            </a:avLst>
          </a:prstGeom>
          <a:solidFill>
            <a:srgbClr val="FFFFFF"/>
          </a:solidFill>
          <a:ln w="13970">
            <a:solidFill>
              <a:srgbClr val="DCEAF7"/>
            </a:solidFill>
            <a:prstDash val="solid"/>
          </a:ln>
        </p:spPr>
        <p:txBody>
          <a:bodyPr/>
          <a:lstStyle/>
          <a:p>
            <a:endParaRPr lang="en-US"/>
          </a:p>
        </p:txBody>
      </p:sp>
      <p:sp>
        <p:nvSpPr>
          <p:cNvPr id="15" name="Text 13"/>
          <p:cNvSpPr/>
          <p:nvPr/>
        </p:nvSpPr>
        <p:spPr>
          <a:xfrm>
            <a:off x="7333488" y="1399032"/>
            <a:ext cx="2194560" cy="201168"/>
          </a:xfrm>
          <a:prstGeom prst="rect">
            <a:avLst/>
          </a:prstGeom>
          <a:noFill/>
          <a:ln/>
        </p:spPr>
        <p:txBody>
          <a:bodyPr wrap="square" rtlCol="0" anchor="ctr"/>
          <a:lstStyle/>
          <a:p>
            <a:pPr marL="0" indent="0" algn="ctr">
              <a:buNone/>
            </a:pPr>
            <a:r>
              <a:rPr lang="en-US" sz="1700" b="1" dirty="0">
                <a:solidFill>
                  <a:srgbClr val="173F5F"/>
                </a:solidFill>
              </a:rPr>
              <a:t>Binary search tree</a:t>
            </a:r>
            <a:endParaRPr lang="en-US" sz="1700" dirty="0"/>
          </a:p>
        </p:txBody>
      </p:sp>
      <p:sp>
        <p:nvSpPr>
          <p:cNvPr id="16" name="Text 14"/>
          <p:cNvSpPr/>
          <p:nvPr/>
        </p:nvSpPr>
        <p:spPr>
          <a:xfrm>
            <a:off x="7333488" y="1755648"/>
            <a:ext cx="2194560" cy="164592"/>
          </a:xfrm>
          <a:prstGeom prst="rect">
            <a:avLst/>
          </a:prstGeom>
          <a:noFill/>
          <a:ln/>
        </p:spPr>
        <p:txBody>
          <a:bodyPr wrap="square" rtlCol="0" anchor="ctr"/>
          <a:lstStyle/>
          <a:p>
            <a:pPr marL="0" indent="0" algn="ctr">
              <a:buNone/>
            </a:pPr>
            <a:r>
              <a:rPr lang="en-US" sz="1400" dirty="0">
                <a:solidFill>
                  <a:srgbClr val="20639B"/>
                </a:solidFill>
              </a:rPr>
              <a:t>Ordered storage</a:t>
            </a:r>
            <a:endParaRPr lang="en-US" sz="1400" dirty="0"/>
          </a:p>
        </p:txBody>
      </p:sp>
      <p:sp>
        <p:nvSpPr>
          <p:cNvPr id="17" name="Text 15"/>
          <p:cNvSpPr/>
          <p:nvPr/>
        </p:nvSpPr>
        <p:spPr>
          <a:xfrm>
            <a:off x="7333488" y="2093976"/>
            <a:ext cx="2194560" cy="256032"/>
          </a:xfrm>
          <a:prstGeom prst="rect">
            <a:avLst/>
          </a:prstGeom>
          <a:noFill/>
          <a:ln/>
        </p:spPr>
        <p:txBody>
          <a:bodyPr wrap="square" rtlCol="0" anchor="ctr"/>
          <a:lstStyle/>
          <a:p>
            <a:pPr marL="0" indent="0" algn="ctr">
              <a:buNone/>
            </a:pPr>
            <a:r>
              <a:rPr lang="en-US" sz="1250" dirty="0">
                <a:solidFill>
                  <a:srgbClr val="1F2933"/>
                </a:solidFill>
              </a:rPr>
              <a:t>Sorted traversal and search</a:t>
            </a:r>
            <a:endParaRPr lang="en-US" sz="1250" dirty="0"/>
          </a:p>
        </p:txBody>
      </p:sp>
      <p:sp>
        <p:nvSpPr>
          <p:cNvPr id="18" name="Shape 16"/>
          <p:cNvSpPr/>
          <p:nvPr/>
        </p:nvSpPr>
        <p:spPr>
          <a:xfrm>
            <a:off x="2331720" y="3246120"/>
            <a:ext cx="2423160" cy="1444752"/>
          </a:xfrm>
          <a:prstGeom prst="roundRect">
            <a:avLst>
              <a:gd name="adj" fmla="val 3165"/>
            </a:avLst>
          </a:prstGeom>
          <a:solidFill>
            <a:srgbClr val="FFFFFF"/>
          </a:solidFill>
          <a:ln w="13970">
            <a:solidFill>
              <a:srgbClr val="DCEAF7"/>
            </a:solidFill>
            <a:prstDash val="solid"/>
          </a:ln>
        </p:spPr>
        <p:txBody>
          <a:bodyPr/>
          <a:lstStyle/>
          <a:p>
            <a:endParaRPr lang="en-US"/>
          </a:p>
        </p:txBody>
      </p:sp>
      <p:sp>
        <p:nvSpPr>
          <p:cNvPr id="19" name="Text 17"/>
          <p:cNvSpPr/>
          <p:nvPr/>
        </p:nvSpPr>
        <p:spPr>
          <a:xfrm>
            <a:off x="2441448" y="3410712"/>
            <a:ext cx="2194560" cy="201168"/>
          </a:xfrm>
          <a:prstGeom prst="rect">
            <a:avLst/>
          </a:prstGeom>
          <a:noFill/>
          <a:ln/>
        </p:spPr>
        <p:txBody>
          <a:bodyPr wrap="square" rtlCol="0" anchor="ctr"/>
          <a:lstStyle/>
          <a:p>
            <a:pPr marL="0" indent="0" algn="ctr">
              <a:buNone/>
            </a:pPr>
            <a:r>
              <a:rPr lang="en-US" sz="1700" b="1" dirty="0">
                <a:solidFill>
                  <a:srgbClr val="173F5F"/>
                </a:solidFill>
              </a:rPr>
              <a:t>Graph</a:t>
            </a:r>
            <a:endParaRPr lang="en-US" sz="1700" dirty="0"/>
          </a:p>
        </p:txBody>
      </p:sp>
      <p:sp>
        <p:nvSpPr>
          <p:cNvPr id="20" name="Text 18"/>
          <p:cNvSpPr/>
          <p:nvPr/>
        </p:nvSpPr>
        <p:spPr>
          <a:xfrm>
            <a:off x="2441448" y="3767328"/>
            <a:ext cx="2194560" cy="164592"/>
          </a:xfrm>
          <a:prstGeom prst="rect">
            <a:avLst/>
          </a:prstGeom>
          <a:noFill/>
          <a:ln/>
        </p:spPr>
        <p:txBody>
          <a:bodyPr wrap="square" rtlCol="0" anchor="ctr"/>
          <a:lstStyle/>
          <a:p>
            <a:pPr marL="0" indent="0" algn="ctr">
              <a:buNone/>
            </a:pPr>
            <a:r>
              <a:rPr lang="en-US" sz="1400" dirty="0">
                <a:solidFill>
                  <a:srgbClr val="20639B"/>
                </a:solidFill>
              </a:rPr>
              <a:t>Relationship model</a:t>
            </a:r>
            <a:endParaRPr lang="en-US" sz="1400" dirty="0"/>
          </a:p>
        </p:txBody>
      </p:sp>
      <p:sp>
        <p:nvSpPr>
          <p:cNvPr id="21" name="Text 19"/>
          <p:cNvSpPr/>
          <p:nvPr/>
        </p:nvSpPr>
        <p:spPr>
          <a:xfrm>
            <a:off x="2441448" y="4105656"/>
            <a:ext cx="2194560" cy="256032"/>
          </a:xfrm>
          <a:prstGeom prst="rect">
            <a:avLst/>
          </a:prstGeom>
          <a:noFill/>
          <a:ln/>
        </p:spPr>
        <p:txBody>
          <a:bodyPr wrap="square" rtlCol="0" anchor="ctr"/>
          <a:lstStyle/>
          <a:p>
            <a:pPr marL="0" indent="0" algn="ctr">
              <a:buNone/>
            </a:pPr>
            <a:r>
              <a:rPr lang="en-US" sz="1250" dirty="0">
                <a:solidFill>
                  <a:srgbClr val="1F2933"/>
                </a:solidFill>
              </a:rPr>
              <a:t>Networks and connected paths</a:t>
            </a:r>
            <a:endParaRPr lang="en-US" sz="1250" dirty="0"/>
          </a:p>
        </p:txBody>
      </p:sp>
      <p:sp>
        <p:nvSpPr>
          <p:cNvPr id="22" name="Shape 20"/>
          <p:cNvSpPr/>
          <p:nvPr/>
        </p:nvSpPr>
        <p:spPr>
          <a:xfrm>
            <a:off x="5577840" y="3246120"/>
            <a:ext cx="2423160" cy="1444752"/>
          </a:xfrm>
          <a:prstGeom prst="roundRect">
            <a:avLst>
              <a:gd name="adj" fmla="val 3165"/>
            </a:avLst>
          </a:prstGeom>
          <a:solidFill>
            <a:srgbClr val="FFFFFF"/>
          </a:solidFill>
          <a:ln w="13970">
            <a:solidFill>
              <a:srgbClr val="DCEAF7"/>
            </a:solidFill>
            <a:prstDash val="solid"/>
          </a:ln>
        </p:spPr>
        <p:txBody>
          <a:bodyPr/>
          <a:lstStyle/>
          <a:p>
            <a:endParaRPr lang="en-US"/>
          </a:p>
        </p:txBody>
      </p:sp>
      <p:sp>
        <p:nvSpPr>
          <p:cNvPr id="23" name="Text 21"/>
          <p:cNvSpPr/>
          <p:nvPr/>
        </p:nvSpPr>
        <p:spPr>
          <a:xfrm>
            <a:off x="5687568" y="3410712"/>
            <a:ext cx="2194560" cy="201168"/>
          </a:xfrm>
          <a:prstGeom prst="rect">
            <a:avLst/>
          </a:prstGeom>
          <a:noFill/>
          <a:ln/>
        </p:spPr>
        <p:txBody>
          <a:bodyPr wrap="square" rtlCol="0" anchor="ctr"/>
          <a:lstStyle/>
          <a:p>
            <a:pPr marL="0" indent="0" algn="ctr">
              <a:buNone/>
            </a:pPr>
            <a:r>
              <a:rPr lang="en-US" sz="1700" b="1" dirty="0">
                <a:solidFill>
                  <a:srgbClr val="173F5F"/>
                </a:solidFill>
              </a:rPr>
              <a:t>Hash table</a:t>
            </a:r>
            <a:endParaRPr lang="en-US" sz="1700" dirty="0"/>
          </a:p>
        </p:txBody>
      </p:sp>
      <p:sp>
        <p:nvSpPr>
          <p:cNvPr id="24" name="Text 22"/>
          <p:cNvSpPr/>
          <p:nvPr/>
        </p:nvSpPr>
        <p:spPr>
          <a:xfrm>
            <a:off x="5687568" y="3767328"/>
            <a:ext cx="2194560" cy="164592"/>
          </a:xfrm>
          <a:prstGeom prst="rect">
            <a:avLst/>
          </a:prstGeom>
          <a:noFill/>
          <a:ln/>
        </p:spPr>
        <p:txBody>
          <a:bodyPr wrap="square" rtlCol="0" anchor="ctr"/>
          <a:lstStyle/>
          <a:p>
            <a:pPr marL="0" indent="0" algn="ctr">
              <a:buNone/>
            </a:pPr>
            <a:r>
              <a:rPr lang="en-US" sz="1400" dirty="0">
                <a:solidFill>
                  <a:srgbClr val="20639B"/>
                </a:solidFill>
              </a:rPr>
              <a:t>Fast average lookup</a:t>
            </a:r>
            <a:endParaRPr lang="en-US" sz="1400" dirty="0"/>
          </a:p>
        </p:txBody>
      </p:sp>
      <p:sp>
        <p:nvSpPr>
          <p:cNvPr id="25" name="Text 23"/>
          <p:cNvSpPr/>
          <p:nvPr/>
        </p:nvSpPr>
        <p:spPr>
          <a:xfrm>
            <a:off x="5687568" y="4105656"/>
            <a:ext cx="2194560" cy="256032"/>
          </a:xfrm>
          <a:prstGeom prst="rect">
            <a:avLst/>
          </a:prstGeom>
          <a:noFill/>
          <a:ln/>
        </p:spPr>
        <p:txBody>
          <a:bodyPr wrap="square" rtlCol="0" anchor="ctr"/>
          <a:lstStyle/>
          <a:p>
            <a:pPr marL="0" indent="0" algn="ctr">
              <a:buNone/>
            </a:pPr>
            <a:r>
              <a:rPr lang="en-US" sz="1250" dirty="0">
                <a:solidFill>
                  <a:srgbClr val="1F2933"/>
                </a:solidFill>
              </a:rPr>
              <a:t>Key-based retrieval</a:t>
            </a:r>
            <a:endParaRPr lang="en-US" sz="1250" dirty="0"/>
          </a:p>
        </p:txBody>
      </p:sp>
      <p:sp>
        <p:nvSpPr>
          <p:cNvPr id="26" name="Text 24"/>
          <p:cNvSpPr/>
          <p:nvPr/>
        </p:nvSpPr>
        <p:spPr>
          <a:xfrm>
            <a:off x="822960" y="5486400"/>
            <a:ext cx="2560320" cy="182880"/>
          </a:xfrm>
          <a:prstGeom prst="rect">
            <a:avLst/>
          </a:prstGeom>
          <a:noFill/>
          <a:ln/>
        </p:spPr>
        <p:txBody>
          <a:bodyPr wrap="square" rtlCol="0" anchor="ctr"/>
          <a:lstStyle/>
          <a:p>
            <a:pPr marL="0" indent="0">
              <a:buNone/>
            </a:pPr>
            <a:r>
              <a:rPr lang="en-US" sz="1700" b="1" dirty="0">
                <a:solidFill>
                  <a:srgbClr val="173F5F"/>
                </a:solidFill>
              </a:rPr>
              <a:t>Why integration matters</a:t>
            </a:r>
            <a:endParaRPr lang="en-US" sz="1700" dirty="0"/>
          </a:p>
        </p:txBody>
      </p:sp>
      <p:sp>
        <p:nvSpPr>
          <p:cNvPr id="27" name="Text 25"/>
          <p:cNvSpPr/>
          <p:nvPr/>
        </p:nvSpPr>
        <p:spPr>
          <a:xfrm>
            <a:off x="822960" y="5779008"/>
            <a:ext cx="10149840" cy="411480"/>
          </a:xfrm>
          <a:prstGeom prst="rect">
            <a:avLst/>
          </a:prstGeom>
          <a:noFill/>
          <a:ln/>
        </p:spPr>
        <p:txBody>
          <a:bodyPr wrap="square" rtlCol="0" anchor="ctr"/>
          <a:lstStyle/>
          <a:p>
            <a:pPr marL="0" indent="0">
              <a:buNone/>
            </a:pPr>
            <a:r>
              <a:rPr lang="en-US" sz="1600" dirty="0">
                <a:solidFill>
                  <a:srgbClr val="1F2933"/>
                </a:solidFill>
              </a:rPr>
              <a:t>The portfolio shows that data structures are not interchangeable. Each one fits a different access pattern, ordering need, or relationship model.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411480" y="128016"/>
            <a:ext cx="10241280" cy="274320"/>
          </a:xfrm>
          <a:prstGeom prst="rect">
            <a:avLst/>
          </a:prstGeom>
          <a:noFill/>
          <a:ln/>
        </p:spPr>
        <p:txBody>
          <a:bodyPr wrap="square"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Performance Comparison</a:t>
            </a:r>
            <a:endParaRPr lang="en-US" sz="2400" dirty="0"/>
          </a:p>
        </p:txBody>
      </p:sp>
      <p:sp>
        <p:nvSpPr>
          <p:cNvPr id="4" name="Shape 2"/>
          <p:cNvSpPr/>
          <p:nvPr/>
        </p:nvSpPr>
        <p:spPr>
          <a:xfrm>
            <a:off x="365760" y="704088"/>
            <a:ext cx="11430000" cy="0"/>
          </a:xfrm>
          <a:prstGeom prst="line">
            <a:avLst/>
          </a:prstGeom>
          <a:noFill/>
          <a:ln w="15240">
            <a:solidFill>
              <a:srgbClr val="DCEAF7"/>
            </a:solidFill>
            <a:prstDash val="solid"/>
          </a:ln>
        </p:spPr>
        <p:txBody>
          <a:bodyPr/>
          <a:lstStyle/>
          <a:p>
            <a:endParaRPr lang="en-US"/>
          </a:p>
        </p:txBody>
      </p:sp>
      <p:sp>
        <p:nvSpPr>
          <p:cNvPr id="5" name="Text 3"/>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
        <p:nvSpPr>
          <p:cNvPr id="6" name="Text 4"/>
          <p:cNvSpPr/>
          <p:nvPr/>
        </p:nvSpPr>
        <p:spPr>
          <a:xfrm>
            <a:off x="786384" y="1078992"/>
            <a:ext cx="1828800" cy="182880"/>
          </a:xfrm>
          <a:prstGeom prst="rect">
            <a:avLst/>
          </a:prstGeom>
          <a:noFill/>
          <a:ln/>
        </p:spPr>
        <p:txBody>
          <a:bodyPr wrap="square" rtlCol="0" anchor="ctr"/>
          <a:lstStyle/>
          <a:p>
            <a:pPr marL="0" indent="0">
              <a:buNone/>
            </a:pPr>
            <a:r>
              <a:rPr lang="en-US" sz="1800" b="1" dirty="0">
                <a:solidFill>
                  <a:srgbClr val="173F5F"/>
                </a:solidFill>
              </a:rPr>
              <a:t>Observed pattern</a:t>
            </a:r>
            <a:endParaRPr lang="en-US" sz="1800" dirty="0"/>
          </a:p>
        </p:txBody>
      </p:sp>
      <p:sp>
        <p:nvSpPr>
          <p:cNvPr id="7" name="Text 5"/>
          <p:cNvSpPr/>
          <p:nvPr/>
        </p:nvSpPr>
        <p:spPr>
          <a:xfrm>
            <a:off x="786384" y="1371600"/>
            <a:ext cx="10515600" cy="502920"/>
          </a:xfrm>
          <a:prstGeom prst="rect">
            <a:avLst/>
          </a:prstGeom>
          <a:noFill/>
          <a:ln/>
        </p:spPr>
        <p:txBody>
          <a:bodyPr wrap="square" rtlCol="0" anchor="ctr"/>
          <a:lstStyle/>
          <a:p>
            <a:pPr marL="0" indent="0">
              <a:buNone/>
            </a:pPr>
            <a:r>
              <a:rPr lang="en-US" sz="1700" dirty="0">
                <a:solidFill>
                  <a:srgbClr val="1F2933"/>
                </a:solidFill>
              </a:rPr>
              <a:t>As input size grows, bubble sort slows down sharply, while optimized sorting remains far faster. Quickselect also performs well when the goal is selection rather than full ordering.</a:t>
            </a:r>
            <a:endParaRPr lang="en-US" sz="1700" dirty="0"/>
          </a:p>
        </p:txBody>
      </p:sp>
      <p:sp>
        <p:nvSpPr>
          <p:cNvPr id="8" name="Shape 6"/>
          <p:cNvSpPr/>
          <p:nvPr/>
        </p:nvSpPr>
        <p:spPr>
          <a:xfrm>
            <a:off x="877824" y="2157984"/>
            <a:ext cx="4983480" cy="2487168"/>
          </a:xfrm>
          <a:prstGeom prst="rect">
            <a:avLst/>
          </a:prstGeom>
          <a:solidFill>
            <a:srgbClr val="FFFFFF"/>
          </a:solidFill>
          <a:ln w="12700">
            <a:solidFill>
              <a:srgbClr val="DCEAF7"/>
            </a:solidFill>
            <a:prstDash val="solid"/>
          </a:ln>
        </p:spPr>
        <p:txBody>
          <a:bodyPr/>
          <a:lstStyle/>
          <a:p>
            <a:endParaRPr lang="en-US"/>
          </a:p>
        </p:txBody>
      </p:sp>
      <p:sp>
        <p:nvSpPr>
          <p:cNvPr id="9" name="Text 7"/>
          <p:cNvSpPr/>
          <p:nvPr/>
        </p:nvSpPr>
        <p:spPr>
          <a:xfrm>
            <a:off x="1097280" y="2395728"/>
            <a:ext cx="2468880" cy="182880"/>
          </a:xfrm>
          <a:prstGeom prst="rect">
            <a:avLst/>
          </a:prstGeom>
          <a:noFill/>
          <a:ln/>
        </p:spPr>
        <p:txBody>
          <a:bodyPr wrap="square" rtlCol="0" anchor="ctr"/>
          <a:lstStyle/>
          <a:p>
            <a:pPr marL="0" indent="0">
              <a:buNone/>
            </a:pPr>
            <a:r>
              <a:rPr lang="en-US" sz="1700" b="1" dirty="0">
                <a:solidFill>
                  <a:srgbClr val="173F5F"/>
                </a:solidFill>
              </a:rPr>
              <a:t>Conceptual comparison</a:t>
            </a:r>
            <a:endParaRPr lang="en-US" sz="1700" dirty="0"/>
          </a:p>
        </p:txBody>
      </p:sp>
      <p:sp>
        <p:nvSpPr>
          <p:cNvPr id="10" name="Text 8"/>
          <p:cNvSpPr/>
          <p:nvPr/>
        </p:nvSpPr>
        <p:spPr>
          <a:xfrm>
            <a:off x="1097280" y="2743200"/>
            <a:ext cx="4389120" cy="1234440"/>
          </a:xfrm>
          <a:prstGeom prst="rect">
            <a:avLst/>
          </a:prstGeom>
          <a:noFill/>
          <a:ln/>
        </p:spPr>
        <p:txBody>
          <a:bodyPr wrap="square" rtlCol="0" anchor="ctr"/>
          <a:lstStyle/>
          <a:p>
            <a:pPr marL="177800" indent="-177800">
              <a:buSzPct val="100000"/>
              <a:buChar char="•"/>
            </a:pPr>
            <a:r>
              <a:rPr lang="en-US" sz="1500" dirty="0">
                <a:solidFill>
                  <a:srgbClr val="1F2933"/>
                </a:solidFill>
              </a:rPr>
              <a:t>Bubble sort: high growth in cost</a:t>
            </a:r>
            <a:endParaRPr lang="en-US" sz="1500" dirty="0"/>
          </a:p>
          <a:p>
            <a:pPr marL="177800" indent="-177800">
              <a:buSzPct val="100000"/>
              <a:buChar char="•"/>
            </a:pPr>
            <a:r>
              <a:rPr lang="en-US" sz="1500" dirty="0">
                <a:solidFill>
                  <a:srgbClr val="1F2933"/>
                </a:solidFill>
              </a:rPr>
              <a:t>Built-in sort: much lower relative cost</a:t>
            </a:r>
            <a:endParaRPr lang="en-US" sz="1500" dirty="0"/>
          </a:p>
          <a:p>
            <a:pPr marL="177800" indent="-177800">
              <a:buSzPct val="100000"/>
              <a:buChar char="•"/>
            </a:pPr>
            <a:r>
              <a:rPr lang="en-US" sz="1500" dirty="0">
                <a:solidFill>
                  <a:srgbClr val="1F2933"/>
                </a:solidFill>
              </a:rPr>
              <a:t>Quickselect: strong choice for kth-value selection</a:t>
            </a:r>
            <a:endParaRPr lang="en-US" sz="1500" dirty="0"/>
          </a:p>
        </p:txBody>
      </p:sp>
      <p:sp>
        <p:nvSpPr>
          <p:cNvPr id="11" name="Shape 9"/>
          <p:cNvSpPr/>
          <p:nvPr/>
        </p:nvSpPr>
        <p:spPr>
          <a:xfrm>
            <a:off x="6400800" y="2157984"/>
            <a:ext cx="4754880" cy="2487168"/>
          </a:xfrm>
          <a:prstGeom prst="rect">
            <a:avLst/>
          </a:prstGeom>
          <a:solidFill>
            <a:srgbClr val="FFFFFF"/>
          </a:solidFill>
          <a:ln w="12700">
            <a:solidFill>
              <a:srgbClr val="DCEAF7"/>
            </a:solidFill>
            <a:prstDash val="solid"/>
          </a:ln>
        </p:spPr>
        <p:txBody>
          <a:bodyPr/>
          <a:lstStyle/>
          <a:p>
            <a:endParaRPr lang="en-US"/>
          </a:p>
        </p:txBody>
      </p:sp>
      <p:sp>
        <p:nvSpPr>
          <p:cNvPr id="12" name="Text 10"/>
          <p:cNvSpPr/>
          <p:nvPr/>
        </p:nvSpPr>
        <p:spPr>
          <a:xfrm>
            <a:off x="6629400" y="2395728"/>
            <a:ext cx="2286000" cy="182880"/>
          </a:xfrm>
          <a:prstGeom prst="rect">
            <a:avLst/>
          </a:prstGeom>
          <a:noFill/>
          <a:ln/>
        </p:spPr>
        <p:txBody>
          <a:bodyPr wrap="square" rtlCol="0" anchor="ctr"/>
          <a:lstStyle/>
          <a:p>
            <a:pPr marL="0" indent="0">
              <a:buNone/>
            </a:pPr>
            <a:r>
              <a:rPr lang="en-US" sz="1700" b="1" dirty="0">
                <a:solidFill>
                  <a:srgbClr val="173F5F"/>
                </a:solidFill>
              </a:rPr>
              <a:t>Trade-off reminder</a:t>
            </a:r>
            <a:endParaRPr lang="en-US" sz="1700" dirty="0"/>
          </a:p>
        </p:txBody>
      </p:sp>
      <p:sp>
        <p:nvSpPr>
          <p:cNvPr id="13" name="Text 11"/>
          <p:cNvSpPr/>
          <p:nvPr/>
        </p:nvSpPr>
        <p:spPr>
          <a:xfrm>
            <a:off x="6629400" y="2743200"/>
            <a:ext cx="4160520" cy="1115568"/>
          </a:xfrm>
          <a:prstGeom prst="rect">
            <a:avLst/>
          </a:prstGeom>
          <a:noFill/>
          <a:ln/>
        </p:spPr>
        <p:txBody>
          <a:bodyPr wrap="square" rtlCol="0" anchor="ctr"/>
          <a:lstStyle/>
          <a:p>
            <a:pPr marL="0" indent="0">
              <a:buNone/>
            </a:pPr>
            <a:r>
              <a:rPr lang="en-US" sz="1500" dirty="0">
                <a:solidFill>
                  <a:srgbClr val="1F2933"/>
                </a:solidFill>
              </a:rPr>
              <a:t>Performance is not the only measure. Bubble sort is slower, but easier to teach. Hash tables are fast on average, but they do not maintain order. Trees preserve order better but may become unbalanced.</a:t>
            </a:r>
            <a:endParaRPr lang="en-US" sz="1500" dirty="0"/>
          </a:p>
        </p:txBody>
      </p:sp>
      <p:sp>
        <p:nvSpPr>
          <p:cNvPr id="14" name="Text 12"/>
          <p:cNvSpPr/>
          <p:nvPr/>
        </p:nvSpPr>
        <p:spPr>
          <a:xfrm>
            <a:off x="932688" y="5084064"/>
            <a:ext cx="10104120" cy="274320"/>
          </a:xfrm>
          <a:prstGeom prst="rect">
            <a:avLst/>
          </a:prstGeom>
          <a:noFill/>
          <a:ln/>
        </p:spPr>
        <p:txBody>
          <a:bodyPr wrap="square" rtlCol="0" anchor="ctr"/>
          <a:lstStyle/>
          <a:p>
            <a:pPr marL="0" indent="0" algn="ctr">
              <a:buNone/>
            </a:pPr>
            <a:r>
              <a:rPr lang="en-US" sz="1800" b="1" dirty="0">
                <a:solidFill>
                  <a:srgbClr val="20639B"/>
                </a:solidFill>
              </a:rPr>
              <a:t>The best tool depends on the exact question being asked, not just on whether the code runs.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411480" y="128016"/>
            <a:ext cx="10241280" cy="274320"/>
          </a:xfrm>
          <a:prstGeom prst="rect">
            <a:avLst/>
          </a:prstGeom>
          <a:noFill/>
          <a:ln/>
        </p:spPr>
        <p:txBody>
          <a:bodyPr wrap="square"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What I Learned from Building the System</a:t>
            </a:r>
            <a:endParaRPr lang="en-US" sz="2400" dirty="0"/>
          </a:p>
        </p:txBody>
      </p:sp>
      <p:sp>
        <p:nvSpPr>
          <p:cNvPr id="4" name="Shape 2"/>
          <p:cNvSpPr/>
          <p:nvPr/>
        </p:nvSpPr>
        <p:spPr>
          <a:xfrm>
            <a:off x="365760" y="704088"/>
            <a:ext cx="11430000" cy="0"/>
          </a:xfrm>
          <a:prstGeom prst="line">
            <a:avLst/>
          </a:prstGeom>
          <a:noFill/>
          <a:ln w="15240">
            <a:solidFill>
              <a:srgbClr val="DCEAF7"/>
            </a:solidFill>
            <a:prstDash val="solid"/>
          </a:ln>
        </p:spPr>
        <p:txBody>
          <a:bodyPr/>
          <a:lstStyle/>
          <a:p>
            <a:endParaRPr lang="en-US"/>
          </a:p>
        </p:txBody>
      </p:sp>
      <p:sp>
        <p:nvSpPr>
          <p:cNvPr id="5" name="Text 3"/>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
        <p:nvSpPr>
          <p:cNvPr id="6" name="Text 4"/>
          <p:cNvSpPr/>
          <p:nvPr/>
        </p:nvSpPr>
        <p:spPr>
          <a:xfrm>
            <a:off x="868680" y="1234440"/>
            <a:ext cx="10378440" cy="3246120"/>
          </a:xfrm>
          <a:prstGeom prst="rect">
            <a:avLst/>
          </a:prstGeom>
          <a:noFill/>
          <a:ln/>
        </p:spPr>
        <p:txBody>
          <a:bodyPr wrap="square" rtlCol="0" anchor="ctr"/>
          <a:lstStyle/>
          <a:p>
            <a:pPr marL="0" indent="0">
              <a:buNone/>
            </a:pPr>
            <a:r>
              <a:rPr lang="en-US" sz="2000" dirty="0">
                <a:solidFill>
                  <a:srgbClr val="1F2933"/>
                </a:solidFill>
              </a:rPr>
              <a:t>Algorithm choice matters. A correct solution can still be inefficient.</a:t>
            </a:r>
            <a:endParaRPr lang="en-US" sz="2000" dirty="0"/>
          </a:p>
          <a:p>
            <a:pPr marL="0" indent="0">
              <a:buNone/>
            </a:pPr>
            <a:endParaRPr lang="en-US" sz="2000" dirty="0"/>
          </a:p>
          <a:p>
            <a:pPr marL="0" indent="0">
              <a:buNone/>
            </a:pPr>
            <a:r>
              <a:rPr lang="en-US" sz="2000" dirty="0">
                <a:solidFill>
                  <a:srgbClr val="1F2933"/>
                </a:solidFill>
              </a:rPr>
              <a:t>Data structure choice matters. Different structures support different access patterns and problem types.</a:t>
            </a:r>
            <a:endParaRPr lang="en-US" sz="2000" dirty="0"/>
          </a:p>
          <a:p>
            <a:pPr marL="0" indent="0">
              <a:buNone/>
            </a:pPr>
            <a:endParaRPr lang="en-US" sz="2000" dirty="0"/>
          </a:p>
          <a:p>
            <a:pPr marL="0" indent="0">
              <a:buNone/>
            </a:pPr>
            <a:r>
              <a:rPr lang="en-US" sz="2000" dirty="0">
                <a:solidFill>
                  <a:srgbClr val="1F2933"/>
                </a:solidFill>
              </a:rPr>
              <a:t>Integration matters. Putting all concepts in one system made the strengths and limitations much clearer.</a:t>
            </a:r>
            <a:endParaRPr lang="en-US" sz="2000" dirty="0"/>
          </a:p>
          <a:p>
            <a:pPr marL="0" indent="0">
              <a:buNone/>
            </a:pPr>
            <a:endParaRPr lang="en-US" sz="2000" dirty="0"/>
          </a:p>
          <a:p>
            <a:pPr marL="0" indent="0">
              <a:buNone/>
            </a:pPr>
            <a:r>
              <a:rPr lang="en-US" sz="2000" dirty="0">
                <a:solidFill>
                  <a:srgbClr val="1F2933"/>
                </a:solidFill>
              </a:rPr>
              <a:t>Design matters. Modular code, a clear UI, and performance analysis made the project stronger than isolated scripts.</a:t>
            </a:r>
            <a:endParaRPr lang="en-US" sz="2000" dirty="0"/>
          </a:p>
        </p:txBody>
      </p:sp>
      <p:sp>
        <p:nvSpPr>
          <p:cNvPr id="7" name="Shape 5"/>
          <p:cNvSpPr/>
          <p:nvPr/>
        </p:nvSpPr>
        <p:spPr>
          <a:xfrm>
            <a:off x="1874520" y="4736592"/>
            <a:ext cx="8458200" cy="969264"/>
          </a:xfrm>
          <a:prstGeom prst="roundRect">
            <a:avLst>
              <a:gd name="adj" fmla="val 4717"/>
            </a:avLst>
          </a:prstGeom>
          <a:solidFill>
            <a:srgbClr val="DCEAF7"/>
          </a:solidFill>
          <a:ln w="13970">
            <a:solidFill>
              <a:srgbClr val="20639B"/>
            </a:solidFill>
            <a:prstDash val="solid"/>
          </a:ln>
        </p:spPr>
        <p:txBody>
          <a:bodyPr/>
          <a:lstStyle/>
          <a:p>
            <a:endParaRPr lang="en-US"/>
          </a:p>
        </p:txBody>
      </p:sp>
      <p:sp>
        <p:nvSpPr>
          <p:cNvPr id="8" name="Text 6"/>
          <p:cNvSpPr/>
          <p:nvPr/>
        </p:nvSpPr>
        <p:spPr>
          <a:xfrm>
            <a:off x="2148840" y="5029200"/>
            <a:ext cx="7863840" cy="347472"/>
          </a:xfrm>
          <a:prstGeom prst="rect">
            <a:avLst/>
          </a:prstGeom>
          <a:noFill/>
          <a:ln/>
        </p:spPr>
        <p:txBody>
          <a:bodyPr wrap="square" rtlCol="0" anchor="ctr"/>
          <a:lstStyle/>
          <a:p>
            <a:pPr marL="0" indent="0" algn="ctr">
              <a:buNone/>
            </a:pPr>
            <a:r>
              <a:rPr lang="en-US" sz="1800" b="1" dirty="0">
                <a:solidFill>
                  <a:srgbClr val="173F5F"/>
                </a:solidFill>
              </a:rPr>
              <a:t>The biggest lesson was that software design is about fit. The best algorithm or structure depends on the exact job it needs to do.</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21792"/>
          </a:xfrm>
          <a:prstGeom prst="rect">
            <a:avLst/>
          </a:prstGeom>
          <a:solidFill>
            <a:srgbClr val="173F5F"/>
          </a:solidFill>
          <a:ln w="12700">
            <a:solidFill>
              <a:srgbClr val="173F5F"/>
            </a:solidFill>
            <a:prstDash val="solid"/>
          </a:ln>
        </p:spPr>
        <p:txBody>
          <a:bodyPr/>
          <a:lstStyle/>
          <a:p>
            <a:endParaRPr lang="en-US"/>
          </a:p>
        </p:txBody>
      </p:sp>
      <p:sp>
        <p:nvSpPr>
          <p:cNvPr id="3" name="Text 1"/>
          <p:cNvSpPr/>
          <p:nvPr/>
        </p:nvSpPr>
        <p:spPr>
          <a:xfrm>
            <a:off x="411480" y="128016"/>
            <a:ext cx="10241280" cy="274320"/>
          </a:xfrm>
          <a:prstGeom prst="rect">
            <a:avLst/>
          </a:prstGeom>
          <a:noFill/>
          <a:ln/>
        </p:spPr>
        <p:txBody>
          <a:bodyPr wrap="square"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Closing Summary</a:t>
            </a:r>
            <a:endParaRPr lang="en-US" sz="2400" dirty="0"/>
          </a:p>
        </p:txBody>
      </p:sp>
      <p:sp>
        <p:nvSpPr>
          <p:cNvPr id="4" name="Shape 2"/>
          <p:cNvSpPr/>
          <p:nvPr/>
        </p:nvSpPr>
        <p:spPr>
          <a:xfrm>
            <a:off x="365760" y="704088"/>
            <a:ext cx="11430000" cy="0"/>
          </a:xfrm>
          <a:prstGeom prst="line">
            <a:avLst/>
          </a:prstGeom>
          <a:noFill/>
          <a:ln w="15240">
            <a:solidFill>
              <a:srgbClr val="DCEAF7"/>
            </a:solidFill>
            <a:prstDash val="solid"/>
          </a:ln>
        </p:spPr>
        <p:txBody>
          <a:bodyPr/>
          <a:lstStyle/>
          <a:p>
            <a:endParaRPr lang="en-US"/>
          </a:p>
        </p:txBody>
      </p:sp>
      <p:sp>
        <p:nvSpPr>
          <p:cNvPr id="5" name="Text 3"/>
          <p:cNvSpPr/>
          <p:nvPr/>
        </p:nvSpPr>
        <p:spPr>
          <a:xfrm>
            <a:off x="411480" y="6428232"/>
            <a:ext cx="4389120" cy="164592"/>
          </a:xfrm>
          <a:prstGeom prst="rect">
            <a:avLst/>
          </a:prstGeom>
          <a:noFill/>
          <a:ln/>
        </p:spPr>
        <p:txBody>
          <a:bodyPr wrap="square" rtlCol="0" anchor="ctr"/>
          <a:lstStyle/>
          <a:p>
            <a:pPr marL="0" indent="0">
              <a:buNone/>
            </a:pPr>
            <a:r>
              <a:rPr lang="en-US" sz="800" dirty="0">
                <a:solidFill>
                  <a:srgbClr val="66788A"/>
                </a:solidFill>
              </a:rPr>
              <a:t>Data Structures Portfolio Project</a:t>
            </a:r>
            <a:endParaRPr lang="en-US" sz="800" dirty="0"/>
          </a:p>
        </p:txBody>
      </p:sp>
      <p:sp>
        <p:nvSpPr>
          <p:cNvPr id="6" name="Text 4"/>
          <p:cNvSpPr/>
          <p:nvPr/>
        </p:nvSpPr>
        <p:spPr>
          <a:xfrm>
            <a:off x="877824" y="1243584"/>
            <a:ext cx="5394960" cy="201168"/>
          </a:xfrm>
          <a:prstGeom prst="rect">
            <a:avLst/>
          </a:prstGeom>
          <a:noFill/>
          <a:ln/>
        </p:spPr>
        <p:txBody>
          <a:bodyPr wrap="square" rtlCol="0" anchor="ctr"/>
          <a:lstStyle/>
          <a:p>
            <a:pPr marL="0" indent="0">
              <a:buNone/>
            </a:pPr>
            <a:r>
              <a:rPr lang="en-US" sz="2200" b="1" dirty="0">
                <a:solidFill>
                  <a:srgbClr val="173F5F"/>
                </a:solidFill>
              </a:rPr>
              <a:t>This portfolio project successfully combined:</a:t>
            </a:r>
            <a:endParaRPr lang="en-US" sz="2200" dirty="0"/>
          </a:p>
        </p:txBody>
      </p:sp>
      <p:sp>
        <p:nvSpPr>
          <p:cNvPr id="7" name="Text 5"/>
          <p:cNvSpPr/>
          <p:nvPr/>
        </p:nvSpPr>
        <p:spPr>
          <a:xfrm>
            <a:off x="932688" y="1792224"/>
            <a:ext cx="5257800" cy="2331720"/>
          </a:xfrm>
          <a:prstGeom prst="rect">
            <a:avLst/>
          </a:prstGeom>
          <a:noFill/>
          <a:ln/>
        </p:spPr>
        <p:txBody>
          <a:bodyPr wrap="square" rtlCol="0" anchor="ctr"/>
          <a:lstStyle/>
          <a:p>
            <a:pPr marL="177800" indent="-177800">
              <a:buSzPct val="100000"/>
              <a:buChar char="•"/>
            </a:pPr>
            <a:r>
              <a:rPr lang="en-US" sz="1800" dirty="0">
                <a:solidFill>
                  <a:srgbClr val="1F2933"/>
                </a:solidFill>
              </a:rPr>
              <a:t>bubble sort visualization</a:t>
            </a:r>
            <a:endParaRPr lang="en-US" sz="1800" dirty="0"/>
          </a:p>
          <a:p>
            <a:pPr marL="177800" indent="-177800">
              <a:buSzPct val="100000"/>
              <a:buChar char="•"/>
            </a:pPr>
            <a:r>
              <a:rPr lang="en-US" sz="1800" dirty="0">
                <a:solidFill>
                  <a:srgbClr val="1F2933"/>
                </a:solidFill>
              </a:rPr>
              <a:t>quickselect for kth smallest element</a:t>
            </a:r>
            <a:endParaRPr lang="en-US" sz="1800" dirty="0"/>
          </a:p>
          <a:p>
            <a:pPr marL="177800" indent="-177800">
              <a:buSzPct val="100000"/>
              <a:buChar char="•"/>
            </a:pPr>
            <a:r>
              <a:rPr lang="en-US" sz="1800" dirty="0">
                <a:solidFill>
                  <a:srgbClr val="1F2933"/>
                </a:solidFill>
              </a:rPr>
              <a:t>complete set operations</a:t>
            </a:r>
            <a:endParaRPr lang="en-US" sz="1800" dirty="0"/>
          </a:p>
          <a:p>
            <a:pPr marL="177800" indent="-177800">
              <a:buSzPct val="100000"/>
              <a:buChar char="•"/>
            </a:pPr>
            <a:r>
              <a:rPr lang="en-US" sz="1800" dirty="0">
                <a:solidFill>
                  <a:srgbClr val="1F2933"/>
                </a:solidFill>
              </a:rPr>
              <a:t>integrated core data structures</a:t>
            </a:r>
            <a:endParaRPr lang="en-US" sz="1800" dirty="0"/>
          </a:p>
          <a:p>
            <a:pPr marL="177800" indent="-177800">
              <a:buSzPct val="100000"/>
              <a:buChar char="•"/>
            </a:pPr>
            <a:r>
              <a:rPr lang="en-US" sz="1800" dirty="0">
                <a:solidFill>
                  <a:srgbClr val="1F2933"/>
                </a:solidFill>
              </a:rPr>
              <a:t>a user interface for testing</a:t>
            </a:r>
            <a:endParaRPr lang="en-US" sz="1800" dirty="0"/>
          </a:p>
          <a:p>
            <a:pPr marL="177800" indent="-177800">
              <a:buSzPct val="100000"/>
              <a:buChar char="•"/>
            </a:pPr>
            <a:r>
              <a:rPr lang="en-US" sz="1800" dirty="0">
                <a:solidFill>
                  <a:srgbClr val="1F2933"/>
                </a:solidFill>
              </a:rPr>
              <a:t>performance analysis and design reflection</a:t>
            </a:r>
            <a:endParaRPr lang="en-US" sz="1800" dirty="0"/>
          </a:p>
        </p:txBody>
      </p:sp>
      <p:sp>
        <p:nvSpPr>
          <p:cNvPr id="8" name="Shape 6"/>
          <p:cNvSpPr/>
          <p:nvPr/>
        </p:nvSpPr>
        <p:spPr>
          <a:xfrm>
            <a:off x="6693408" y="1664208"/>
            <a:ext cx="4480560" cy="2743200"/>
          </a:xfrm>
          <a:prstGeom prst="roundRect">
            <a:avLst>
              <a:gd name="adj" fmla="val 2000"/>
            </a:avLst>
          </a:prstGeom>
          <a:solidFill>
            <a:srgbClr val="FFFFFF"/>
          </a:solidFill>
          <a:ln w="13970">
            <a:solidFill>
              <a:srgbClr val="DCEAF7"/>
            </a:solidFill>
            <a:prstDash val="solid"/>
          </a:ln>
          <a:effectLst>
            <a:outerShdw blurRad="12700" dist="12700" dir="2700000" algn="bl" rotWithShape="0">
              <a:srgbClr val="000000">
                <a:alpha val="12000"/>
              </a:srgbClr>
            </a:outerShdw>
          </a:effectLst>
        </p:spPr>
        <p:txBody>
          <a:bodyPr/>
          <a:lstStyle/>
          <a:p>
            <a:endParaRPr lang="en-US"/>
          </a:p>
        </p:txBody>
      </p:sp>
      <p:sp>
        <p:nvSpPr>
          <p:cNvPr id="9" name="Text 7"/>
          <p:cNvSpPr/>
          <p:nvPr/>
        </p:nvSpPr>
        <p:spPr>
          <a:xfrm>
            <a:off x="7315200" y="1938528"/>
            <a:ext cx="3200400" cy="182880"/>
          </a:xfrm>
          <a:prstGeom prst="rect">
            <a:avLst/>
          </a:prstGeom>
          <a:noFill/>
          <a:ln/>
        </p:spPr>
        <p:txBody>
          <a:bodyPr wrap="square" rtlCol="0" anchor="ctr"/>
          <a:lstStyle/>
          <a:p>
            <a:pPr marL="0" indent="0" algn="ctr">
              <a:buNone/>
            </a:pPr>
            <a:r>
              <a:rPr lang="en-US" sz="1800" b="1" dirty="0">
                <a:solidFill>
                  <a:srgbClr val="173F5F"/>
                </a:solidFill>
              </a:rPr>
              <a:t>Final message</a:t>
            </a:r>
            <a:endParaRPr lang="en-US" sz="1800" dirty="0"/>
          </a:p>
        </p:txBody>
      </p:sp>
      <p:sp>
        <p:nvSpPr>
          <p:cNvPr id="10" name="Text 8"/>
          <p:cNvSpPr/>
          <p:nvPr/>
        </p:nvSpPr>
        <p:spPr>
          <a:xfrm>
            <a:off x="7114032" y="2395728"/>
            <a:ext cx="3611880" cy="914400"/>
          </a:xfrm>
          <a:prstGeom prst="rect">
            <a:avLst/>
          </a:prstGeom>
          <a:noFill/>
          <a:ln/>
        </p:spPr>
        <p:txBody>
          <a:bodyPr wrap="square" rtlCol="0" anchor="ctr"/>
          <a:lstStyle/>
          <a:p>
            <a:pPr marL="0" indent="0" algn="ctr">
              <a:buNone/>
            </a:pPr>
            <a:r>
              <a:rPr lang="en-US" sz="1600" dirty="0">
                <a:solidFill>
                  <a:srgbClr val="1F2933"/>
                </a:solidFill>
              </a:rPr>
              <a:t>The project shows not only how to implement core concepts, but also how to compare them, explain them, and organize them into one coherent system.</a:t>
            </a:r>
            <a:endParaRPr lang="en-US" sz="1600" dirty="0"/>
          </a:p>
        </p:txBody>
      </p:sp>
      <p:sp>
        <p:nvSpPr>
          <p:cNvPr id="11" name="Text 9"/>
          <p:cNvSpPr/>
          <p:nvPr/>
        </p:nvSpPr>
        <p:spPr>
          <a:xfrm>
            <a:off x="7818120" y="3749040"/>
            <a:ext cx="2011680" cy="201168"/>
          </a:xfrm>
          <a:prstGeom prst="rect">
            <a:avLst/>
          </a:prstGeom>
          <a:noFill/>
          <a:ln/>
        </p:spPr>
        <p:txBody>
          <a:bodyPr wrap="square" rtlCol="0" anchor="ctr"/>
          <a:lstStyle/>
          <a:p>
            <a:pPr marL="0" indent="0" algn="ctr">
              <a:buNone/>
            </a:pPr>
            <a:r>
              <a:rPr lang="en-US" sz="2200" b="1" dirty="0">
                <a:solidFill>
                  <a:srgbClr val="20639B"/>
                </a:solidFill>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1448</Words>
  <Application>Microsoft Office PowerPoint</Application>
  <PresentationFormat>Widescreen</PresentationFormat>
  <Paragraphs>166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 System Presentation</dc:title>
  <dc:subject>Portfolio Project Presentation</dc:subject>
  <dc:creator>OpenAI</dc:creator>
  <cp:lastModifiedBy>Sunday Edisi</cp:lastModifiedBy>
  <cp:revision>2</cp:revision>
  <dcterms:created xsi:type="dcterms:W3CDTF">2026-04-05T02:02:56Z</dcterms:created>
  <dcterms:modified xsi:type="dcterms:W3CDTF">2026-04-05T02:16:00Z</dcterms:modified>
</cp:coreProperties>
</file>